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87" r:id="rId2"/>
    <p:sldId id="288" r:id="rId3"/>
    <p:sldId id="270" r:id="rId4"/>
    <p:sldId id="289" r:id="rId5"/>
    <p:sldId id="29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A490511-9797-5DB3-6BC5-B1F0FA718FE0}" name="嘉骏 陈" initials="嘉陈" userId="f08f6f77f9a771f2" providerId="Windows Live"/>
  <p188:author id="{B54506D2-91CD-596A-5292-5E07FDACF9DD}" name="远航 孙" initials="远孙" userId="00a28dcff9c6cbf7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E181E8-B902-D3A6-85C5-AA3DB3DAEB1E}" v="16" dt="2026-07-28T17:27:49.624"/>
    <p1510:client id="{3669F147-5BAB-D662-36C8-311931CD3F0F}" v="437" dt="2026-07-28T17:48:25.345"/>
    <p1510:client id="{C5248E6E-712B-BE5A-C750-B2D99EBC6254}" v="4" dt="2026-07-28T17:35:25.752"/>
    <p1510:client id="{E69E315A-0CC1-E448-B101-CEFD18DCDFE1}" v="870" dt="2026-07-28T17:49:50.6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7"/>
    <p:restoredTop sz="94615"/>
  </p:normalViewPr>
  <p:slideViewPr>
    <p:cSldViewPr snapToGrid="0">
      <p:cViewPr>
        <p:scale>
          <a:sx n="114" d="100"/>
          <a:sy n="114" d="100"/>
        </p:scale>
        <p:origin x="600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A5130-EFE4-4390-B6B2-3E3BC61F7CD2}" type="datetimeFigureOut">
              <a:rPr lang="zh-CN" altLang="en-US" smtClean="0"/>
              <a:t>2026/7/28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A39456-890E-40F7-936F-3BC02A6EBC6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A39456-890E-40F7-936F-3BC02A6EBC6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9113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A39456-890E-40F7-936F-3BC02A6EBC6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39026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500A5-BC6D-B04B-1137-4ACCB4647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B08746F-0E91-FD11-EA28-29B90A34A1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20108CC-9BB8-940A-D893-88B2362554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C534CF6-DE2D-25D5-A5C8-0C653B86D8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A39456-890E-40F7-936F-3BC02A6EBC6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1107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C86C5-9171-6370-42D4-EF419937B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9C83EEC-614D-E3AE-1935-3B3AE980D1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97BC6BE-85F1-9C8F-6CF6-001E91D8BD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C7E45B-B4FB-8D27-4C08-E1E6565CF4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A39456-890E-40F7-936F-3BC02A6EBC6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36675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3697A-62AE-4653-9D50-3EE353521A1E}" type="datetimeFigureOut">
              <a:rPr lang="zh-CN" altLang="en-US" smtClean="0"/>
              <a:t>2026/7/28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44C43-8BE7-4BD0-89C1-3C121D0F2D3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3697A-62AE-4653-9D50-3EE353521A1E}" type="datetimeFigureOut">
              <a:rPr lang="zh-CN" altLang="en-US" smtClean="0"/>
              <a:t>2026/7/28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44C43-8BE7-4BD0-89C1-3C121D0F2D3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3697A-62AE-4653-9D50-3EE353521A1E}" type="datetimeFigureOut">
              <a:rPr lang="zh-CN" altLang="en-US" smtClean="0"/>
              <a:t>2026/7/28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44C43-8BE7-4BD0-89C1-3C121D0F2D3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3697A-62AE-4653-9D50-3EE353521A1E}" type="datetimeFigureOut">
              <a:rPr lang="zh-CN" altLang="en-US" smtClean="0"/>
              <a:t>2026/7/28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44C43-8BE7-4BD0-89C1-3C121D0F2D3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3697A-62AE-4653-9D50-3EE353521A1E}" type="datetimeFigureOut">
              <a:rPr lang="zh-CN" altLang="en-US" smtClean="0"/>
              <a:t>2026/7/28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44C43-8BE7-4BD0-89C1-3C121D0F2D3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3697A-62AE-4653-9D50-3EE353521A1E}" type="datetimeFigureOut">
              <a:rPr lang="zh-CN" altLang="en-US" smtClean="0"/>
              <a:t>2026/7/28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44C43-8BE7-4BD0-89C1-3C121D0F2D3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3697A-62AE-4653-9D50-3EE353521A1E}" type="datetimeFigureOut">
              <a:rPr lang="zh-CN" altLang="en-US" smtClean="0"/>
              <a:t>2026/7/28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44C43-8BE7-4BD0-89C1-3C121D0F2D3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3697A-62AE-4653-9D50-3EE353521A1E}" type="datetimeFigureOut">
              <a:rPr lang="zh-CN" altLang="en-US" smtClean="0"/>
              <a:t>2026/7/28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44C43-8BE7-4BD0-89C1-3C121D0F2D3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3697A-62AE-4653-9D50-3EE353521A1E}" type="datetimeFigureOut">
              <a:rPr lang="zh-CN" altLang="en-US" smtClean="0"/>
              <a:t>2026/7/28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44C43-8BE7-4BD0-89C1-3C121D0F2D3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3697A-62AE-4653-9D50-3EE353521A1E}" type="datetimeFigureOut">
              <a:rPr lang="zh-CN" altLang="en-US" smtClean="0"/>
              <a:t>2026/7/28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44C43-8BE7-4BD0-89C1-3C121D0F2D3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3697A-62AE-4653-9D50-3EE353521A1E}" type="datetimeFigureOut">
              <a:rPr lang="zh-CN" altLang="en-US" smtClean="0"/>
              <a:t>2026/7/28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44C43-8BE7-4BD0-89C1-3C121D0F2D3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B3697A-62AE-4653-9D50-3EE353521A1E}" type="datetimeFigureOut">
              <a:rPr lang="zh-CN" altLang="en-US" smtClean="0"/>
              <a:t>2026/7/28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D44C43-8BE7-4BD0-89C1-3C121D0F2D3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15998" y="2180265"/>
            <a:ext cx="10160000" cy="1688304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pPr algn="ctr">
              <a:lnSpc>
                <a:spcPts val="3600"/>
              </a:lnSpc>
            </a:pPr>
            <a:r>
              <a:rPr lang="en-US" altLang="zh-CN" sz="4000" b="1">
                <a:solidFill>
                  <a:srgbClr val="000000"/>
                </a:solidFill>
                <a:latin typeface="微软雅黑" panose="020B0503020204020204" pitchFamily="34" charset="-122"/>
              </a:rPr>
              <a:t>Weiming HPC Training Camp</a:t>
            </a:r>
          </a:p>
          <a:p>
            <a:pPr algn="ctr">
              <a:lnSpc>
                <a:spcPct val="90000"/>
              </a:lnSpc>
            </a:pPr>
            <a:r>
              <a:rPr lang="en-US" altLang="zh-CN" sz="4000" b="1">
                <a:solidFill>
                  <a:srgbClr val="000000"/>
                </a:solidFill>
                <a:latin typeface="微软雅黑" panose="020B0503020204020204" pitchFamily="34" charset="-122"/>
              </a:rPr>
              <a:t>×</a:t>
            </a:r>
          </a:p>
          <a:p>
            <a:pPr algn="ctr">
              <a:lnSpc>
                <a:spcPts val="3600"/>
              </a:lnSpc>
            </a:pPr>
            <a:r>
              <a:rPr lang="en-US" altLang="zh-CN" sz="4000" b="1">
                <a:solidFill>
                  <a:srgbClr val="000000"/>
                </a:solidFill>
                <a:latin typeface="微软雅黑" panose="020B0503020204020204" pitchFamily="34" charset="-122"/>
              </a:rPr>
              <a:t>LCPU AI Infra Seminars</a:t>
            </a:r>
            <a:endParaRPr lang="zh-CN" altLang="en-US" sz="4000" b="1">
              <a:solidFill>
                <a:srgbClr val="0000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713892" y="5355696"/>
            <a:ext cx="4764211" cy="633048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pPr algn="ctr"/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Noto Sans SC" panose="020B0200000000000000" pitchFamily="34" charset="-128"/>
                <a:ea typeface="Noto Sans SC" panose="020B0200000000000000" pitchFamily="34" charset="-128"/>
              </a:rPr>
              <a:t>北京大学未名超算队</a:t>
            </a:r>
            <a:endParaRPr lang="en-US" altLang="zh-CN" sz="1600">
              <a:solidFill>
                <a:schemeClr val="tx1">
                  <a:lumMod val="75000"/>
                  <a:lumOff val="25000"/>
                </a:schemeClr>
              </a:solidFill>
              <a:latin typeface="Noto Sans SC" panose="020B0200000000000000" pitchFamily="34" charset="-128"/>
              <a:ea typeface="Noto Sans SC" panose="020B0200000000000000" pitchFamily="34" charset="-128"/>
            </a:endParaRPr>
          </a:p>
          <a:p>
            <a:pPr algn="ctr"/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Noto Sans SC" panose="020B0200000000000000" pitchFamily="34" charset="-128"/>
                <a:ea typeface="Noto Sans SC" panose="020B0200000000000000" pitchFamily="34" charset="-128"/>
              </a:rPr>
              <a:t>北京大学学生</a:t>
            </a:r>
            <a:r>
              <a:rPr lang="en-US" altLang="zh-CN" sz="1600">
                <a:solidFill>
                  <a:schemeClr val="tx1">
                    <a:lumMod val="75000"/>
                    <a:lumOff val="25000"/>
                  </a:schemeClr>
                </a:solidFill>
                <a:latin typeface="Noto Sans SC" panose="020B0200000000000000" pitchFamily="34" charset="-128"/>
                <a:ea typeface="Noto Sans SC" panose="020B0200000000000000" pitchFamily="34" charset="-128"/>
              </a:rPr>
              <a:t> Linux </a:t>
            </a: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Noto Sans SC" panose="020B0200000000000000" pitchFamily="34" charset="-128"/>
                <a:ea typeface="Noto Sans SC" panose="020B0200000000000000" pitchFamily="34" charset="-128"/>
              </a:rPr>
              <a:t>俱乐部</a:t>
            </a:r>
            <a:endParaRPr lang="en-US" altLang="zh-CN" sz="1600">
              <a:solidFill>
                <a:schemeClr val="tx1">
                  <a:lumMod val="75000"/>
                  <a:lumOff val="25000"/>
                </a:schemeClr>
              </a:solidFill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pic>
        <p:nvPicPr>
          <p:cNvPr id="5" name="图形 4">
            <a:extLst>
              <a:ext uri="{FF2B5EF4-FFF2-40B4-BE49-F238E27FC236}">
                <a16:creationId xmlns:a16="http://schemas.microsoft.com/office/drawing/2014/main" id="{25969A3F-AA93-FDF8-CACE-4D8A2A034B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754" y="6363882"/>
            <a:ext cx="1800491" cy="36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407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72E3E-25EB-A095-D992-D96C2B2F7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A561301-5993-A2FA-3740-3690695DC2FD}"/>
              </a:ext>
            </a:extLst>
          </p:cNvPr>
          <p:cNvSpPr txBox="1"/>
          <p:nvPr/>
        </p:nvSpPr>
        <p:spPr>
          <a:xfrm>
            <a:off x="1015999" y="2592704"/>
            <a:ext cx="10160000" cy="836296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pPr algn="ctr"/>
            <a:r>
              <a:rPr lang="en-US" altLang="zh-CN" sz="4000" b="1" dirty="0">
                <a:solidFill>
                  <a:srgbClr val="000000"/>
                </a:solidFill>
                <a:latin typeface="微软雅黑" panose="020B0503020204020204" pitchFamily="34" charset="-122"/>
              </a:rPr>
              <a:t>2. Memory Abstraction &amp; Hierarchy</a:t>
            </a:r>
          </a:p>
        </p:txBody>
      </p:sp>
      <p:pic>
        <p:nvPicPr>
          <p:cNvPr id="5" name="图形 4">
            <a:extLst>
              <a:ext uri="{FF2B5EF4-FFF2-40B4-BE49-F238E27FC236}">
                <a16:creationId xmlns:a16="http://schemas.microsoft.com/office/drawing/2014/main" id="{E3CBFC70-09BF-2718-39B6-3E1D5E8A62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754" y="6363882"/>
            <a:ext cx="1800491" cy="36933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7580F88-33F0-7A78-DD49-C0DA6186759A}"/>
              </a:ext>
            </a:extLst>
          </p:cNvPr>
          <p:cNvSpPr txBox="1"/>
          <p:nvPr/>
        </p:nvSpPr>
        <p:spPr>
          <a:xfrm>
            <a:off x="3682408" y="4697675"/>
            <a:ext cx="4827164" cy="1666207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SC" panose="020B0200000000000000" pitchFamily="34" charset="-128"/>
                <a:ea typeface="Noto Sans SC" panose="020B0200000000000000" pitchFamily="34" charset="-128"/>
              </a:rPr>
              <a:t>Zhou Yuxuan</a:t>
            </a:r>
          </a:p>
          <a:p>
            <a:pPr algn="ctr">
              <a:lnSpc>
                <a:spcPct val="125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SC" panose="020B0200000000000000" pitchFamily="34" charset="-128"/>
                <a:ea typeface="Noto Sans SC" panose="020B0200000000000000" pitchFamily="34" charset="-128"/>
              </a:rPr>
              <a:t>2026. 07. 29</a:t>
            </a:r>
          </a:p>
          <a:p>
            <a:pPr algn="ctr">
              <a:lnSpc>
                <a:spcPct val="125000"/>
              </a:lnSpc>
              <a:spcBef>
                <a:spcPts val="2400"/>
              </a:spcBef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SC" panose="020B0200000000000000" pitchFamily="34" charset="-128"/>
                <a:ea typeface="Noto Sans SC" panose="020B0200000000000000" pitchFamily="34" charset="-128"/>
              </a:rPr>
              <a:t>Weiming Supercomputing Team</a:t>
            </a:r>
          </a:p>
          <a:p>
            <a:pPr algn="ctr">
              <a:lnSpc>
                <a:spcPct val="125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SC" panose="020B0200000000000000" pitchFamily="34" charset="-128"/>
                <a:ea typeface="Noto Sans SC" panose="020B0200000000000000" pitchFamily="34" charset="-128"/>
              </a:rPr>
              <a:t>Linux Club of Peking University</a:t>
            </a:r>
          </a:p>
          <a:p>
            <a:pPr algn="ctr">
              <a:lnSpc>
                <a:spcPct val="150000"/>
              </a:lnSpc>
            </a:pP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47807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4">
            <a:extLst>
              <a:ext uri="{FF2B5EF4-FFF2-40B4-BE49-F238E27FC236}">
                <a16:creationId xmlns:a16="http://schemas.microsoft.com/office/drawing/2014/main" id="{C2E16278-6E55-0608-2834-58E4744D7205}"/>
              </a:ext>
            </a:extLst>
          </p:cNvPr>
          <p:cNvCxnSpPr/>
          <p:nvPr/>
        </p:nvCxnSpPr>
        <p:spPr>
          <a:xfrm>
            <a:off x="0" y="732773"/>
            <a:ext cx="12192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45D0BE2B-85F1-23B9-8EC8-627D0207CD61}"/>
              </a:ext>
            </a:extLst>
          </p:cNvPr>
          <p:cNvSpPr txBox="1"/>
          <p:nvPr/>
        </p:nvSpPr>
        <p:spPr>
          <a:xfrm>
            <a:off x="145042" y="65131"/>
            <a:ext cx="10047161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zh-CN" altLang="en-US" sz="3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矩阵乘法 </a:t>
            </a:r>
            <a:r>
              <a:rPr lang="en-US" altLang="zh-CN" sz="4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sz="4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3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NERAL </a:t>
            </a:r>
            <a:r>
              <a:rPr lang="en-US" altLang="zh-CN" sz="4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sz="3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ATRIX </a:t>
            </a:r>
            <a:r>
              <a:rPr lang="en-US" altLang="zh-CN" sz="4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sz="3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UTIPLICATION</a:t>
            </a:r>
          </a:p>
        </p:txBody>
      </p:sp>
      <p:pic>
        <p:nvPicPr>
          <p:cNvPr id="6" name="图形 5">
            <a:extLst>
              <a:ext uri="{FF2B5EF4-FFF2-40B4-BE49-F238E27FC236}">
                <a16:creationId xmlns:a16="http://schemas.microsoft.com/office/drawing/2014/main" id="{623548C6-3F09-03A9-36FF-E41D3115D3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96992" y="53431"/>
            <a:ext cx="649965" cy="64996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5B40E03-0043-3139-3BDA-0A2F4129AC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3335" y="81610"/>
            <a:ext cx="1002170" cy="586407"/>
          </a:xfrm>
          <a:prstGeom prst="rect">
            <a:avLst/>
          </a:prstGeom>
        </p:spPr>
      </p:pic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008269CF-9C92-626D-E139-E928495ECBDB}"/>
              </a:ext>
            </a:extLst>
          </p:cNvPr>
          <p:cNvCxnSpPr>
            <a:cxnSpLocks/>
          </p:cNvCxnSpPr>
          <p:nvPr/>
        </p:nvCxnSpPr>
        <p:spPr>
          <a:xfrm>
            <a:off x="11215077" y="41708"/>
            <a:ext cx="0" cy="621786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B40B188E-935E-73B0-C58C-3B82646C2B0C}"/>
                  </a:ext>
                </a:extLst>
              </p:cNvPr>
              <p:cNvSpPr txBox="1"/>
              <p:nvPr/>
            </p:nvSpPr>
            <p:spPr>
              <a:xfrm>
                <a:off x="306348" y="1040549"/>
                <a:ext cx="5789652" cy="31125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Wingdings" pitchFamily="2" charset="2"/>
                  <a:buChar char="l"/>
                </a:pPr>
                <a:r>
                  <a:rPr kumimoji="1" lang="zh-CN" altLang="en-US" sz="24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计算：</a:t>
                </a: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𝐶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𝐴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 ×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𝐵</m:t>
                    </m:r>
                  </m:oMath>
                </a14:m>
                <a:endParaRPr kumimoji="1" lang="en-US" altLang="zh-CN" sz="2400" b="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lvl="1">
                  <a:lnSpc>
                    <a:spcPct val="125000"/>
                  </a:lnSpc>
                </a:pP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𝐴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∈</m:t>
                    </m:r>
                    <m:sSup>
                      <m:sSupPr>
                        <m:ctrlPr>
                          <a:rPr kumimoji="1"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sup>
                    </m:sSup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kumimoji="1" lang="en-US" altLang="zh-CN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  <m:r>
                          <a:rPr kumimoji="1"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kumimoji="1"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</m:sSup>
                    <m:r>
                      <a:rPr kumimoji="1"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kumimoji="1"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kumimoji="1"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  <m:r>
                          <a:rPr kumimoji="1"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kumimoji="1"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endParaRPr kumimoji="1" lang="en-US" altLang="zh-CN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marL="0" lvl="1">
                  <a:lnSpc>
                    <a:spcPct val="125000"/>
                  </a:lnSpc>
                  <a:spcBef>
                    <a:spcPts val="1800"/>
                  </a:spcBef>
                </a:pPr>
                <a:r>
                  <a:rPr kumimoji="1" lang="en-US" altLang="zh-CN" sz="24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Recall</a:t>
                </a:r>
                <a:r>
                  <a:rPr kumimoji="1" lang="zh-CN" altLang="en-US" sz="24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</a:p>
              <a:p>
                <a:pPr marL="0" lvl="1">
                  <a:lnSpc>
                    <a:spcPct val="125000"/>
                  </a:lnSpc>
                </a:pPr>
                <a:r>
                  <a:rPr kumimoji="1" lang="zh-CN" altLang="en-US" sz="2400" dirty="0">
                    <a:solidFill>
                      <a:srgbClr val="FF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   并行计算：</a:t>
                </a:r>
                <a:r>
                  <a:rPr kumimoji="1" lang="zh-CN" altLang="en-US" sz="24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拆分</a:t>
                </a:r>
                <a:r>
                  <a:rPr kumimoji="1" lang="zh-CN" altLang="en-US" sz="2400" dirty="0">
                    <a:solidFill>
                      <a:srgbClr val="0070C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计算</a:t>
                </a:r>
                <a:r>
                  <a:rPr kumimoji="1" lang="zh-CN" altLang="en-US" sz="24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和</a:t>
                </a:r>
                <a:r>
                  <a:rPr kumimoji="1" lang="zh-CN" altLang="en-US" sz="2400" dirty="0">
                    <a:solidFill>
                      <a:srgbClr val="0070C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数据</a:t>
                </a:r>
                <a:endParaRPr kumimoji="1" lang="en-US" altLang="zh-CN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marL="0" lvl="1">
                  <a:lnSpc>
                    <a:spcPct val="125000"/>
                  </a:lnSpc>
                  <a:spcBef>
                    <a:spcPts val="1200"/>
                  </a:spcBef>
                </a:pPr>
                <a:r>
                  <a:rPr kumimoji="1" lang="zh-CN" altLang="en-US" sz="24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   怎么拆？</a:t>
                </a:r>
                <a:endParaRPr kumimoji="1" lang="en-US" altLang="zh-CN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marL="0" lvl="1">
                  <a:lnSpc>
                    <a:spcPct val="125000"/>
                  </a:lnSpc>
                </a:pPr>
                <a:r>
                  <a:rPr kumimoji="1" lang="zh-CN" altLang="en-US" sz="24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   拆倒哪？</a:t>
                </a:r>
                <a:endParaRPr kumimoji="1" lang="en-US" altLang="zh-CN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B40B188E-935E-73B0-C58C-3B82646C2B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348" y="1040549"/>
                <a:ext cx="5789652" cy="3112519"/>
              </a:xfrm>
              <a:prstGeom prst="rect">
                <a:avLst/>
              </a:prstGeom>
              <a:blipFill>
                <a:blip r:embed="rId5"/>
                <a:stretch>
                  <a:fillRect l="-1751" t="-1633" b="-40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3" name="图片 32">
            <a:extLst>
              <a:ext uri="{FF2B5EF4-FFF2-40B4-BE49-F238E27FC236}">
                <a16:creationId xmlns:a16="http://schemas.microsoft.com/office/drawing/2014/main" id="{3CE1716C-B915-066B-060D-9050DECC94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1507790"/>
            <a:ext cx="4755277" cy="44170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CCE7C-9D03-2330-6F85-F185E5563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4">
            <a:extLst>
              <a:ext uri="{FF2B5EF4-FFF2-40B4-BE49-F238E27FC236}">
                <a16:creationId xmlns:a16="http://schemas.microsoft.com/office/drawing/2014/main" id="{8B1573F5-E7A3-F951-C440-340DC94B7BAE}"/>
              </a:ext>
            </a:extLst>
          </p:cNvPr>
          <p:cNvCxnSpPr/>
          <p:nvPr/>
        </p:nvCxnSpPr>
        <p:spPr>
          <a:xfrm>
            <a:off x="0" y="732773"/>
            <a:ext cx="12192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05281163-D30D-189D-3156-1081FC71C3E3}"/>
              </a:ext>
            </a:extLst>
          </p:cNvPr>
          <p:cNvSpPr txBox="1"/>
          <p:nvPr/>
        </p:nvSpPr>
        <p:spPr>
          <a:xfrm>
            <a:off x="145042" y="65131"/>
            <a:ext cx="10047161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zh-CN" altLang="en-US" sz="36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矩阵乘法 </a:t>
            </a:r>
            <a:r>
              <a:rPr lang="en-US" altLang="zh-CN" sz="44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sz="4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36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NERAL </a:t>
            </a:r>
            <a:r>
              <a:rPr lang="en-US" altLang="zh-CN" sz="4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sz="36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ATRIX </a:t>
            </a:r>
            <a:r>
              <a:rPr lang="en-US" altLang="zh-CN" sz="4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sz="36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UTIPLICATION</a:t>
            </a:r>
          </a:p>
        </p:txBody>
      </p:sp>
      <p:pic>
        <p:nvPicPr>
          <p:cNvPr id="6" name="图形 5">
            <a:extLst>
              <a:ext uri="{FF2B5EF4-FFF2-40B4-BE49-F238E27FC236}">
                <a16:creationId xmlns:a16="http://schemas.microsoft.com/office/drawing/2014/main" id="{62246A2D-B68D-668A-2CD1-34240CF271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96992" y="53431"/>
            <a:ext cx="649965" cy="64996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0BDD5C3-1604-1B7F-1559-68DFE0992A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3335" y="81610"/>
            <a:ext cx="1002170" cy="586407"/>
          </a:xfrm>
          <a:prstGeom prst="rect">
            <a:avLst/>
          </a:prstGeom>
        </p:spPr>
      </p:pic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F4E0D647-B365-AB22-5BB6-4DCB716E86FB}"/>
              </a:ext>
            </a:extLst>
          </p:cNvPr>
          <p:cNvCxnSpPr>
            <a:cxnSpLocks/>
          </p:cNvCxnSpPr>
          <p:nvPr/>
        </p:nvCxnSpPr>
        <p:spPr>
          <a:xfrm>
            <a:off x="11215077" y="41708"/>
            <a:ext cx="0" cy="621786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0828434C-D6E2-0D44-5679-9625A071B952}"/>
                  </a:ext>
                </a:extLst>
              </p:cNvPr>
              <p:cNvSpPr txBox="1"/>
              <p:nvPr/>
            </p:nvSpPr>
            <p:spPr>
              <a:xfrm>
                <a:off x="306348" y="1040549"/>
                <a:ext cx="5789652" cy="35741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Wingdings" pitchFamily="2" charset="2"/>
                  <a:buChar char="l"/>
                </a:pPr>
                <a:r>
                  <a:rPr kumimoji="1" lang="zh-CN" altLang="en-US" sz="24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计算：</a:t>
                </a: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𝐶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𝐴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 ×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𝐵</m:t>
                    </m:r>
                  </m:oMath>
                </a14:m>
                <a:endParaRPr kumimoji="1" lang="en-US" altLang="zh-CN" sz="2400" b="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lvl="1">
                  <a:lnSpc>
                    <a:spcPct val="125000"/>
                  </a:lnSpc>
                </a:pP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𝐴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∈</m:t>
                    </m:r>
                    <m:sSup>
                      <m:sSupPr>
                        <m:ctrlPr>
                          <a:rPr kumimoji="1"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sup>
                    </m:sSup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kumimoji="1" lang="en-US" altLang="zh-CN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  <m:r>
                          <a:rPr kumimoji="1"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kumimoji="1"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</m:sSup>
                    <m:r>
                      <a:rPr kumimoji="1"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kumimoji="1"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kumimoji="1"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  <m:r>
                          <a:rPr kumimoji="1"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kumimoji="1"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endParaRPr kumimoji="1" lang="en-US" altLang="zh-CN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marL="0" lvl="1">
                  <a:lnSpc>
                    <a:spcPct val="125000"/>
                  </a:lnSpc>
                  <a:spcBef>
                    <a:spcPts val="1800"/>
                  </a:spcBef>
                </a:pPr>
                <a:r>
                  <a:rPr kumimoji="1" lang="en-US" altLang="zh-CN" sz="24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Recall</a:t>
                </a:r>
                <a:r>
                  <a:rPr kumimoji="1" lang="zh-CN" altLang="en-US" sz="24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</a:p>
              <a:p>
                <a:pPr marL="0" lvl="1">
                  <a:lnSpc>
                    <a:spcPct val="125000"/>
                  </a:lnSpc>
                </a:pPr>
                <a:r>
                  <a:rPr kumimoji="1" lang="zh-CN" altLang="en-US" sz="2400" dirty="0">
                    <a:solidFill>
                      <a:srgbClr val="FF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   并行计算：</a:t>
                </a:r>
                <a:r>
                  <a:rPr kumimoji="1" lang="zh-CN" altLang="en-US" sz="24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拆分</a:t>
                </a:r>
                <a:r>
                  <a:rPr kumimoji="1" lang="zh-CN" altLang="en-US" sz="2400" dirty="0">
                    <a:solidFill>
                      <a:srgbClr val="0070C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计算</a:t>
                </a:r>
                <a:r>
                  <a:rPr kumimoji="1" lang="zh-CN" altLang="en-US" sz="24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和</a:t>
                </a:r>
                <a:r>
                  <a:rPr kumimoji="1" lang="zh-CN" altLang="en-US" sz="2400" dirty="0">
                    <a:solidFill>
                      <a:srgbClr val="0070C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数据</a:t>
                </a:r>
                <a:endParaRPr kumimoji="1" lang="en-US" altLang="zh-CN" sz="2400" dirty="0">
                  <a:solidFill>
                    <a:srgbClr val="0070C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marL="0" lvl="1">
                  <a:lnSpc>
                    <a:spcPct val="125000"/>
                  </a:lnSpc>
                </a:pPr>
                <a:r>
                  <a:rPr kumimoji="1" lang="en-US" altLang="zh-CN" sz="2400" dirty="0">
                    <a:solidFill>
                      <a:srgbClr val="0070C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   </a:t>
                </a: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zh-CN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kumimoji="1" lang="en-US" altLang="zh-CN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𝑖</m:t>
                        </m:r>
                        <m:r>
                          <a:rPr kumimoji="1" lang="en-US" altLang="zh-CN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, </m:t>
                        </m:r>
                        <m:r>
                          <a:rPr kumimoji="1" lang="en-US" altLang="zh-CN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𝑗</m:t>
                        </m:r>
                      </m:e>
                    </m:d>
                    <m:r>
                      <a:rPr kumimoji="1" lang="en-US" altLang="zh-CN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kumimoji="1" lang="en-US" altLang="zh-CN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naryPr>
                      <m:sub>
                        <m:r>
                          <a:rPr kumimoji="1" lang="en-US" altLang="zh-CN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𝑘</m:t>
                        </m:r>
                      </m:sub>
                      <m:sup/>
                      <m:e>
                        <m:r>
                          <a:rPr kumimoji="1" lang="en-US" altLang="zh-CN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𝐴</m:t>
                        </m:r>
                        <m:d>
                          <m:dPr>
                            <m:begChr m:val="["/>
                            <m:endChr m:val="]"/>
                            <m:ctrlPr>
                              <a:rPr kumimoji="1" lang="en-US" altLang="zh-CN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kumimoji="1" lang="en-US" altLang="zh-CN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𝑖</m:t>
                            </m:r>
                            <m:r>
                              <a:rPr kumimoji="1" lang="en-US" altLang="zh-CN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,</m:t>
                            </m:r>
                            <m:r>
                              <a:rPr kumimoji="1" lang="en-US" altLang="zh-CN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𝑘</m:t>
                            </m:r>
                          </m:e>
                        </m:d>
                        <m:r>
                          <a:rPr kumimoji="1" lang="en-US" altLang="zh-CN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∗</m:t>
                        </m:r>
                        <m:r>
                          <a:rPr kumimoji="1" lang="en-US" altLang="zh-CN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𝐵</m:t>
                        </m:r>
                        <m:r>
                          <a:rPr kumimoji="1" lang="en-US" altLang="zh-CN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[</m:t>
                        </m:r>
                        <m:r>
                          <a:rPr kumimoji="1" lang="en-US" altLang="zh-CN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𝑘</m:t>
                        </m:r>
                        <m:r>
                          <a:rPr kumimoji="1" lang="en-US" altLang="zh-CN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,</m:t>
                        </m:r>
                        <m:r>
                          <a:rPr kumimoji="1" lang="en-US" altLang="zh-CN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𝑗</m:t>
                        </m:r>
                        <m:r>
                          <a:rPr kumimoji="1" lang="en-US" altLang="zh-CN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]</m:t>
                        </m:r>
                      </m:e>
                    </m:nary>
                  </m:oMath>
                </a14:m>
                <a:r>
                  <a:rPr kumimoji="1" lang="zh-CN" altLang="en-US" sz="24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endParaRPr kumimoji="1" lang="en-US" altLang="zh-CN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marL="0" lvl="1">
                  <a:lnSpc>
                    <a:spcPct val="125000"/>
                  </a:lnSpc>
                  <a:spcBef>
                    <a:spcPts val="1200"/>
                  </a:spcBef>
                </a:pPr>
                <a:r>
                  <a:rPr kumimoji="1" lang="zh-CN" altLang="en-US" sz="24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   怎么拆？</a:t>
                </a:r>
                <a:r>
                  <a:rPr kumimoji="1" lang="zh-CN" altLang="en-US" sz="2400" dirty="0">
                    <a:solidFill>
                      <a:srgbClr val="7030A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数据并行！</a:t>
                </a:r>
                <a:r>
                  <a:rPr kumimoji="1" lang="zh-CN" altLang="en-US" sz="24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   </a:t>
                </a:r>
                <a:endParaRPr kumimoji="1" lang="en-US" altLang="zh-CN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marL="0" lvl="1">
                  <a:lnSpc>
                    <a:spcPct val="125000"/>
                  </a:lnSpc>
                </a:pPr>
                <a:r>
                  <a:rPr kumimoji="1" lang="zh-CN" altLang="en-US" sz="24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   拆到哪？</a:t>
                </a:r>
                <a:r>
                  <a:rPr kumimoji="1" lang="en-US" altLang="zh-CN" sz="2400" dirty="0">
                    <a:solidFill>
                      <a:srgbClr val="7030A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Thread</a:t>
                </a:r>
                <a:r>
                  <a:rPr kumimoji="1" lang="zh-CN" altLang="en-US" sz="2400" dirty="0">
                    <a:solidFill>
                      <a:srgbClr val="7030A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！</a:t>
                </a:r>
                <a:endParaRPr kumimoji="1" lang="en-US" altLang="zh-CN" sz="2400" dirty="0">
                  <a:solidFill>
                    <a:srgbClr val="7030A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0828434C-D6E2-0D44-5679-9625A071B9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348" y="1040549"/>
                <a:ext cx="5789652" cy="3574184"/>
              </a:xfrm>
              <a:prstGeom prst="rect">
                <a:avLst/>
              </a:prstGeom>
              <a:blipFill>
                <a:blip r:embed="rId5"/>
                <a:stretch>
                  <a:fillRect l="-1751" t="-1418" b="-31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3" name="图片 32">
            <a:extLst>
              <a:ext uri="{FF2B5EF4-FFF2-40B4-BE49-F238E27FC236}">
                <a16:creationId xmlns:a16="http://schemas.microsoft.com/office/drawing/2014/main" id="{ED0DC653-7B41-9AC4-6EDF-5A5AA1313A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5738" y="1382872"/>
            <a:ext cx="4755277" cy="4417036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94D7767E-D68D-3925-7CC7-1F33607F66DE}"/>
              </a:ext>
            </a:extLst>
          </p:cNvPr>
          <p:cNvSpPr txBox="1"/>
          <p:nvPr/>
        </p:nvSpPr>
        <p:spPr>
          <a:xfrm>
            <a:off x="1139940" y="5155385"/>
            <a:ext cx="261015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400" dirty="0">
                <a:solidFill>
                  <a:schemeClr val="accent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SIMT</a:t>
            </a:r>
            <a:r>
              <a:rPr kumimoji="1" lang="zh-CN" altLang="en-US" sz="4400" dirty="0">
                <a:solidFill>
                  <a:schemeClr val="accent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！</a:t>
            </a:r>
            <a:endParaRPr kumimoji="1" lang="en-US" altLang="zh-CN" sz="4400" dirty="0">
              <a:solidFill>
                <a:schemeClr val="accent2">
                  <a:lumMod val="7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86048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096A6-8CAD-45E9-AA42-725412297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4">
            <a:extLst>
              <a:ext uri="{FF2B5EF4-FFF2-40B4-BE49-F238E27FC236}">
                <a16:creationId xmlns:a16="http://schemas.microsoft.com/office/drawing/2014/main" id="{1F65BF71-0FA3-E2EC-931E-9AA0E81C9F93}"/>
              </a:ext>
            </a:extLst>
          </p:cNvPr>
          <p:cNvCxnSpPr/>
          <p:nvPr/>
        </p:nvCxnSpPr>
        <p:spPr>
          <a:xfrm>
            <a:off x="0" y="732773"/>
            <a:ext cx="12192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95790094-BA5B-8C94-0FF2-3677E58497D2}"/>
              </a:ext>
            </a:extLst>
          </p:cNvPr>
          <p:cNvSpPr txBox="1"/>
          <p:nvPr/>
        </p:nvSpPr>
        <p:spPr>
          <a:xfrm>
            <a:off x="145042" y="65131"/>
            <a:ext cx="10047161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zh-CN" altLang="en-US" sz="36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矩阵乘法 </a:t>
            </a:r>
            <a:r>
              <a:rPr lang="en-US" altLang="zh-CN" sz="44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sz="4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36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NERAL </a:t>
            </a:r>
            <a:r>
              <a:rPr lang="en-US" altLang="zh-CN" sz="4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sz="36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ATRIX </a:t>
            </a:r>
            <a:r>
              <a:rPr lang="en-US" altLang="zh-CN" sz="4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sz="36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UTIPLICATION</a:t>
            </a:r>
          </a:p>
        </p:txBody>
      </p:sp>
      <p:pic>
        <p:nvPicPr>
          <p:cNvPr id="6" name="图形 5">
            <a:extLst>
              <a:ext uri="{FF2B5EF4-FFF2-40B4-BE49-F238E27FC236}">
                <a16:creationId xmlns:a16="http://schemas.microsoft.com/office/drawing/2014/main" id="{5EC09C79-690C-0191-BE4B-302CF2875C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96992" y="53431"/>
            <a:ext cx="649965" cy="64996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7FFEFF3-C478-039D-737C-3AC6E675B5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3335" y="81610"/>
            <a:ext cx="1002170" cy="586407"/>
          </a:xfrm>
          <a:prstGeom prst="rect">
            <a:avLst/>
          </a:prstGeom>
        </p:spPr>
      </p:pic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5F437FB9-DA7C-3134-86C4-04E1FB3D8A9B}"/>
              </a:ext>
            </a:extLst>
          </p:cNvPr>
          <p:cNvCxnSpPr>
            <a:cxnSpLocks/>
          </p:cNvCxnSpPr>
          <p:nvPr/>
        </p:nvCxnSpPr>
        <p:spPr>
          <a:xfrm>
            <a:off x="11215077" y="41708"/>
            <a:ext cx="0" cy="621786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5F90371B-4779-AB2F-6E7D-4C4141A97BAF}"/>
                  </a:ext>
                </a:extLst>
              </p:cNvPr>
              <p:cNvSpPr txBox="1"/>
              <p:nvPr/>
            </p:nvSpPr>
            <p:spPr>
              <a:xfrm>
                <a:off x="306348" y="1040549"/>
                <a:ext cx="5789652" cy="35741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Wingdings" pitchFamily="2" charset="2"/>
                  <a:buChar char="l"/>
                </a:pPr>
                <a:r>
                  <a:rPr kumimoji="1" lang="zh-CN" altLang="en-US" sz="240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计算：</a:t>
                </a: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𝐶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𝐴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 ×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𝐵</m:t>
                    </m:r>
                  </m:oMath>
                </a14:m>
                <a:endParaRPr kumimoji="1" lang="en-US" altLang="zh-CN" sz="2400" b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lvl="1">
                  <a:lnSpc>
                    <a:spcPct val="125000"/>
                  </a:lnSpc>
                </a:pP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𝐴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∈</m:t>
                    </m:r>
                    <m:sSup>
                      <m:sSupPr>
                        <m:ctrlPr>
                          <a:rPr kumimoji="1"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sup>
                    </m:sSup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kumimoji="1" lang="en-US" altLang="zh-CN" sz="240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  <m:r>
                          <a:rPr kumimoji="1"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kumimoji="1"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</m:sSup>
                    <m:r>
                      <a:rPr kumimoji="1"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kumimoji="1"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kumimoji="1"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  <m:r>
                          <a:rPr kumimoji="1"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kumimoji="1"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endParaRPr kumimoji="1" lang="en-US" altLang="zh-CN" sz="240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marL="0" lvl="1">
                  <a:lnSpc>
                    <a:spcPct val="125000"/>
                  </a:lnSpc>
                  <a:spcBef>
                    <a:spcPts val="1800"/>
                  </a:spcBef>
                </a:pPr>
                <a:r>
                  <a:rPr kumimoji="1" lang="en-US" altLang="zh-CN" sz="240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Recall</a:t>
                </a:r>
                <a:r>
                  <a:rPr kumimoji="1" lang="zh-CN" altLang="en-US" sz="240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</a:p>
              <a:p>
                <a:pPr marL="0" lvl="1">
                  <a:lnSpc>
                    <a:spcPct val="125000"/>
                  </a:lnSpc>
                </a:pPr>
                <a:r>
                  <a:rPr kumimoji="1" lang="zh-CN" altLang="en-US" sz="2400">
                    <a:solidFill>
                      <a:srgbClr val="FF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   并行计算：</a:t>
                </a:r>
                <a:r>
                  <a:rPr kumimoji="1" lang="zh-CN" altLang="en-US" sz="240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拆分</a:t>
                </a:r>
                <a:r>
                  <a:rPr kumimoji="1" lang="zh-CN" altLang="en-US" sz="2400">
                    <a:solidFill>
                      <a:srgbClr val="0070C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计算</a:t>
                </a:r>
                <a:r>
                  <a:rPr kumimoji="1" lang="zh-CN" altLang="en-US" sz="240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和</a:t>
                </a:r>
                <a:r>
                  <a:rPr kumimoji="1" lang="zh-CN" altLang="en-US" sz="2400">
                    <a:solidFill>
                      <a:srgbClr val="0070C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数据</a:t>
                </a:r>
                <a:endParaRPr kumimoji="1" lang="en-US" altLang="zh-CN" sz="2400">
                  <a:solidFill>
                    <a:srgbClr val="0070C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marL="0" lvl="1">
                  <a:lnSpc>
                    <a:spcPct val="125000"/>
                  </a:lnSpc>
                </a:pPr>
                <a:r>
                  <a:rPr kumimoji="1" lang="en-US" altLang="zh-CN" sz="2400">
                    <a:solidFill>
                      <a:srgbClr val="0070C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   </a:t>
                </a: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zh-CN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kumimoji="1" lang="en-US" altLang="zh-CN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𝑖</m:t>
                        </m:r>
                        <m:r>
                          <a:rPr kumimoji="1" lang="en-US" altLang="zh-CN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, </m:t>
                        </m:r>
                        <m:r>
                          <a:rPr kumimoji="1" lang="en-US" altLang="zh-CN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𝑗</m:t>
                        </m:r>
                      </m:e>
                    </m:d>
                    <m:r>
                      <a:rPr kumimoji="1" lang="en-US" altLang="zh-CN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kumimoji="1" lang="en-US" altLang="zh-CN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naryPr>
                      <m:sub>
                        <m:r>
                          <a:rPr kumimoji="1" lang="en-US" altLang="zh-CN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𝑘</m:t>
                        </m:r>
                      </m:sub>
                      <m:sup/>
                      <m:e>
                        <m:r>
                          <a:rPr kumimoji="1" lang="en-US" altLang="zh-CN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𝐴</m:t>
                        </m:r>
                        <m:d>
                          <m:dPr>
                            <m:begChr m:val="["/>
                            <m:endChr m:val="]"/>
                            <m:ctrlPr>
                              <a:rPr kumimoji="1" lang="en-US" altLang="zh-CN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kumimoji="1" lang="en-US" altLang="zh-CN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𝑖</m:t>
                            </m:r>
                            <m:r>
                              <a:rPr kumimoji="1" lang="en-US" altLang="zh-CN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,</m:t>
                            </m:r>
                            <m:r>
                              <a:rPr kumimoji="1" lang="en-US" altLang="zh-CN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𝑘</m:t>
                            </m:r>
                          </m:e>
                        </m:d>
                        <m:r>
                          <a:rPr kumimoji="1" lang="en-US" altLang="zh-CN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∗</m:t>
                        </m:r>
                        <m:r>
                          <a:rPr kumimoji="1" lang="en-US" altLang="zh-CN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𝐵</m:t>
                        </m:r>
                        <m:r>
                          <a:rPr kumimoji="1" lang="en-US" altLang="zh-CN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[</m:t>
                        </m:r>
                        <m:r>
                          <a:rPr kumimoji="1" lang="en-US" altLang="zh-CN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𝑘</m:t>
                        </m:r>
                        <m:r>
                          <a:rPr kumimoji="1" lang="en-US" altLang="zh-CN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,</m:t>
                        </m:r>
                        <m:r>
                          <a:rPr kumimoji="1" lang="en-US" altLang="zh-CN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𝑗</m:t>
                        </m:r>
                        <m:r>
                          <a:rPr kumimoji="1" lang="en-US" altLang="zh-CN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]</m:t>
                        </m:r>
                      </m:e>
                    </m:nary>
                  </m:oMath>
                </a14:m>
                <a:r>
                  <a:rPr kumimoji="1" lang="zh-CN" altLang="en-US" sz="240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endParaRPr kumimoji="1" lang="en-US" altLang="zh-CN" sz="240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marL="0" lvl="1">
                  <a:lnSpc>
                    <a:spcPct val="125000"/>
                  </a:lnSpc>
                  <a:spcBef>
                    <a:spcPts val="1200"/>
                  </a:spcBef>
                </a:pPr>
                <a:r>
                  <a:rPr kumimoji="1" lang="zh-CN" altLang="en-US" sz="240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   怎么拆？</a:t>
                </a:r>
                <a:r>
                  <a:rPr kumimoji="1" lang="zh-CN" altLang="en-US" sz="2400">
                    <a:solidFill>
                      <a:srgbClr val="7030A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数据并行！</a:t>
                </a:r>
                <a:r>
                  <a:rPr kumimoji="1" lang="zh-CN" altLang="en-US" sz="240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   </a:t>
                </a:r>
                <a:endParaRPr kumimoji="1" lang="en-US" altLang="zh-CN" sz="240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marL="0" lvl="1">
                  <a:lnSpc>
                    <a:spcPct val="125000"/>
                  </a:lnSpc>
                </a:pPr>
                <a:r>
                  <a:rPr kumimoji="1" lang="zh-CN" altLang="en-US" sz="240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   拆到哪？</a:t>
                </a:r>
                <a:r>
                  <a:rPr kumimoji="1" lang="en-US" altLang="zh-CN" sz="2400">
                    <a:solidFill>
                      <a:srgbClr val="7030A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Thread</a:t>
                </a:r>
                <a:r>
                  <a:rPr kumimoji="1" lang="zh-CN" altLang="en-US" sz="2400">
                    <a:solidFill>
                      <a:srgbClr val="7030A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！</a:t>
                </a:r>
                <a:endParaRPr kumimoji="1" lang="en-US" altLang="zh-CN" sz="2400">
                  <a:solidFill>
                    <a:srgbClr val="7030A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5F90371B-4779-AB2F-6E7D-4C4141A97B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348" y="1040549"/>
                <a:ext cx="5789652" cy="3574184"/>
              </a:xfrm>
              <a:prstGeom prst="rect">
                <a:avLst/>
              </a:prstGeom>
              <a:blipFill>
                <a:blip r:embed="rId5"/>
                <a:stretch>
                  <a:fillRect l="-1751" t="-1418" b="-31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7E348FAE-B1F5-E7B8-718E-CBE9712639C5}"/>
              </a:ext>
            </a:extLst>
          </p:cNvPr>
          <p:cNvSpPr txBox="1"/>
          <p:nvPr/>
        </p:nvSpPr>
        <p:spPr>
          <a:xfrm>
            <a:off x="1139940" y="5155385"/>
            <a:ext cx="261015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400">
                <a:solidFill>
                  <a:schemeClr val="accent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SIMT</a:t>
            </a:r>
            <a:r>
              <a:rPr kumimoji="1" lang="zh-CN" altLang="en-US" sz="4400">
                <a:solidFill>
                  <a:schemeClr val="accent2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！</a:t>
            </a:r>
            <a:endParaRPr kumimoji="1" lang="en-US" altLang="zh-CN" sz="4400">
              <a:solidFill>
                <a:schemeClr val="accent2">
                  <a:lumMod val="7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C90105F-5276-3668-84E4-D9CA91924B11}"/>
              </a:ext>
            </a:extLst>
          </p:cNvPr>
          <p:cNvSpPr txBox="1"/>
          <p:nvPr/>
        </p:nvSpPr>
        <p:spPr>
          <a:xfrm>
            <a:off x="5172280" y="839170"/>
            <a:ext cx="7126275" cy="588379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ts val="2250"/>
              </a:lnSpc>
            </a:pPr>
            <a:r>
              <a:rPr lang="zh-CN" altLang="zh-CN" sz="1500" b="0">
                <a:solidFill>
                  <a:srgbClr val="001080"/>
                </a:solidFill>
                <a:effectLst/>
                <a:latin typeface="Menlo"/>
                <a:ea typeface="等线"/>
              </a:rPr>
              <a:t>__global__</a:t>
            </a:r>
            <a:r>
              <a:rPr lang="zh-CN" altLang="zh-CN" sz="1500" b="0">
                <a:solidFill>
                  <a:srgbClr val="3B3B3B"/>
                </a:solidFill>
                <a:effectLst/>
                <a:latin typeface="Menlo"/>
                <a:ea typeface="等线"/>
              </a:rPr>
              <a:t> </a:t>
            </a:r>
            <a:r>
              <a:rPr lang="zh-CN" altLang="zh-CN" sz="1500" b="0">
                <a:solidFill>
                  <a:srgbClr val="0000FF"/>
                </a:solidFill>
                <a:effectLst/>
                <a:latin typeface="Menlo"/>
                <a:ea typeface="等线"/>
              </a:rPr>
              <a:t>void</a:t>
            </a:r>
            <a:r>
              <a:rPr lang="zh-CN" altLang="zh-CN" sz="1500" b="0">
                <a:solidFill>
                  <a:srgbClr val="3B3B3B"/>
                </a:solidFill>
                <a:effectLst/>
                <a:latin typeface="Menlo"/>
                <a:ea typeface="等线"/>
              </a:rPr>
              <a:t> </a:t>
            </a:r>
            <a:r>
              <a:rPr lang="zh-CN" altLang="zh-CN" sz="1500" b="0">
                <a:solidFill>
                  <a:srgbClr val="795E26"/>
                </a:solidFill>
                <a:effectLst/>
                <a:latin typeface="Menlo"/>
                <a:ea typeface="等线"/>
              </a:rPr>
              <a:t>gemm_naive</a:t>
            </a:r>
            <a:r>
              <a:rPr lang="zh-CN" altLang="zh-CN" sz="1500" b="0">
                <a:solidFill>
                  <a:srgbClr val="3B3B3B"/>
                </a:solidFill>
                <a:effectLst/>
                <a:latin typeface="Menlo"/>
                <a:ea typeface="等线"/>
              </a:rPr>
              <a:t>(</a:t>
            </a:r>
            <a:endParaRPr lang="zh-CN"/>
          </a:p>
          <a:p>
            <a:pPr>
              <a:lnSpc>
                <a:spcPts val="2250"/>
              </a:lnSpc>
            </a:pPr>
            <a:r>
              <a:rPr lang="zh-CN" altLang="zh-CN" sz="1500">
                <a:solidFill>
                  <a:srgbClr val="0000FF"/>
                </a:solidFill>
                <a:latin typeface="Menlo"/>
                <a:ea typeface="等线"/>
              </a:rPr>
              <a:t>    </a:t>
            </a:r>
            <a:r>
              <a:rPr lang="zh-CN" altLang="zh-CN" sz="1500" b="0">
                <a:solidFill>
                  <a:srgbClr val="0000FF"/>
                </a:solidFill>
                <a:effectLst/>
                <a:latin typeface="Menlo"/>
                <a:ea typeface="等线"/>
              </a:rPr>
              <a:t>const</a:t>
            </a:r>
            <a:r>
              <a:rPr lang="zh-CN" altLang="zh-CN" sz="1500" b="0">
                <a:solidFill>
                  <a:srgbClr val="3B3B3B"/>
                </a:solidFill>
                <a:effectLst/>
                <a:latin typeface="Menlo"/>
                <a:ea typeface="等线"/>
              </a:rPr>
              <a:t> </a:t>
            </a:r>
            <a:r>
              <a:rPr lang="zh-CN" altLang="zh-CN" sz="1500" b="0">
                <a:solidFill>
                  <a:srgbClr val="0000FF"/>
                </a:solidFill>
                <a:effectLst/>
                <a:latin typeface="Menlo"/>
                <a:ea typeface="等线"/>
              </a:rPr>
              <a:t>float</a:t>
            </a:r>
            <a:r>
              <a:rPr lang="zh-CN" altLang="zh-CN" sz="1500" b="0">
                <a:solidFill>
                  <a:srgbClr val="000000"/>
                </a:solidFill>
                <a:effectLst/>
                <a:latin typeface="Menlo"/>
                <a:ea typeface="等线"/>
              </a:rPr>
              <a:t>*</a:t>
            </a:r>
            <a:r>
              <a:rPr lang="zh-CN" altLang="zh-CN" sz="1500">
                <a:solidFill>
                  <a:srgbClr val="3B3B3B"/>
                </a:solidFill>
                <a:latin typeface="Menlo"/>
                <a:ea typeface="等线"/>
              </a:rPr>
              <a:t> </a:t>
            </a:r>
            <a:r>
              <a:rPr lang="zh-CN" altLang="zh-CN" sz="1500" b="0">
                <a:solidFill>
                  <a:srgbClr val="0000FF"/>
                </a:solidFill>
                <a:effectLst/>
                <a:latin typeface="Menlo"/>
                <a:ea typeface="等线"/>
              </a:rPr>
              <a:t>__restrict__</a:t>
            </a:r>
            <a:r>
              <a:rPr lang="zh-CN" altLang="zh-CN" sz="1500" b="0">
                <a:solidFill>
                  <a:srgbClr val="3B3B3B"/>
                </a:solidFill>
                <a:effectLst/>
                <a:latin typeface="Menlo"/>
                <a:ea typeface="等线"/>
              </a:rPr>
              <a:t> A,</a:t>
            </a:r>
            <a:endParaRPr lang="zh-CN"/>
          </a:p>
          <a:p>
            <a:pPr>
              <a:lnSpc>
                <a:spcPts val="2250"/>
              </a:lnSpc>
            </a:pPr>
            <a:r>
              <a:rPr lang="zh-CN" altLang="zh-CN" sz="1500">
                <a:solidFill>
                  <a:srgbClr val="0000FF"/>
                </a:solidFill>
                <a:latin typeface="Menlo"/>
                <a:ea typeface="等线"/>
              </a:rPr>
              <a:t>    </a:t>
            </a:r>
            <a:r>
              <a:rPr lang="zh-CN" altLang="zh-CN" sz="1500" b="0">
                <a:solidFill>
                  <a:srgbClr val="0000FF"/>
                </a:solidFill>
                <a:effectLst/>
                <a:latin typeface="Menlo"/>
                <a:ea typeface="等线"/>
              </a:rPr>
              <a:t>const</a:t>
            </a:r>
            <a:r>
              <a:rPr lang="zh-CN" altLang="zh-CN" sz="1500" b="0">
                <a:solidFill>
                  <a:srgbClr val="3B3B3B"/>
                </a:solidFill>
                <a:effectLst/>
                <a:latin typeface="Menlo"/>
                <a:ea typeface="等线"/>
              </a:rPr>
              <a:t> </a:t>
            </a:r>
            <a:r>
              <a:rPr lang="zh-CN" altLang="zh-CN" sz="1500" b="0">
                <a:solidFill>
                  <a:srgbClr val="0000FF"/>
                </a:solidFill>
                <a:effectLst/>
                <a:latin typeface="Menlo"/>
                <a:ea typeface="等线"/>
              </a:rPr>
              <a:t>float</a:t>
            </a:r>
            <a:r>
              <a:rPr lang="zh-CN" altLang="zh-CN" sz="1500" b="0">
                <a:solidFill>
                  <a:srgbClr val="000000"/>
                </a:solidFill>
                <a:effectLst/>
                <a:latin typeface="Menlo"/>
                <a:ea typeface="等线"/>
              </a:rPr>
              <a:t>*</a:t>
            </a:r>
            <a:r>
              <a:rPr lang="zh-CN" altLang="zh-CN" sz="1500" b="0">
                <a:solidFill>
                  <a:srgbClr val="3B3B3B"/>
                </a:solidFill>
                <a:effectLst/>
                <a:latin typeface="Menlo"/>
                <a:ea typeface="等线"/>
              </a:rPr>
              <a:t> </a:t>
            </a:r>
            <a:r>
              <a:rPr lang="zh-CN" altLang="zh-CN" sz="1500" b="0">
                <a:solidFill>
                  <a:srgbClr val="0000FF"/>
                </a:solidFill>
                <a:effectLst/>
                <a:latin typeface="Menlo"/>
                <a:ea typeface="等线"/>
              </a:rPr>
              <a:t>__restrict__</a:t>
            </a:r>
            <a:r>
              <a:rPr lang="zh-CN" altLang="zh-CN" sz="1500" b="0">
                <a:solidFill>
                  <a:srgbClr val="3B3B3B"/>
                </a:solidFill>
                <a:effectLst/>
                <a:latin typeface="Menlo"/>
                <a:ea typeface="等线"/>
              </a:rPr>
              <a:t> B,</a:t>
            </a:r>
          </a:p>
          <a:p>
            <a:pPr>
              <a:lnSpc>
                <a:spcPts val="2250"/>
              </a:lnSpc>
            </a:pPr>
            <a:r>
              <a:rPr lang="zh-CN" altLang="zh-CN" sz="1500">
                <a:solidFill>
                  <a:srgbClr val="0000FF"/>
                </a:solidFill>
                <a:latin typeface="Menlo"/>
                <a:ea typeface="等线"/>
              </a:rPr>
              <a:t>    </a:t>
            </a:r>
            <a:r>
              <a:rPr lang="zh-CN" altLang="zh-CN" sz="1500" b="0">
                <a:solidFill>
                  <a:srgbClr val="0000FF"/>
                </a:solidFill>
                <a:effectLst/>
                <a:latin typeface="Menlo"/>
                <a:ea typeface="等线"/>
              </a:rPr>
              <a:t>float</a:t>
            </a:r>
            <a:r>
              <a:rPr lang="zh-CN" altLang="zh-CN" sz="1500" b="0">
                <a:solidFill>
                  <a:srgbClr val="000000"/>
                </a:solidFill>
                <a:effectLst/>
                <a:latin typeface="Menlo"/>
                <a:ea typeface="等线"/>
              </a:rPr>
              <a:t>*</a:t>
            </a:r>
            <a:r>
              <a:rPr lang="zh-CN" altLang="zh-CN" sz="1500" b="0">
                <a:solidFill>
                  <a:srgbClr val="3B3B3B"/>
                </a:solidFill>
                <a:effectLst/>
                <a:latin typeface="Menlo"/>
                <a:ea typeface="等线"/>
              </a:rPr>
              <a:t> </a:t>
            </a:r>
            <a:r>
              <a:rPr lang="zh-CN" altLang="zh-CN" sz="1500" b="0">
                <a:solidFill>
                  <a:srgbClr val="0000FF"/>
                </a:solidFill>
                <a:effectLst/>
                <a:latin typeface="Menlo"/>
                <a:ea typeface="等线"/>
              </a:rPr>
              <a:t>__restri</a:t>
            </a:r>
            <a:r>
              <a:rPr lang="zh-CN" altLang="zh-CN" sz="1500">
                <a:solidFill>
                  <a:srgbClr val="0000FF"/>
                </a:solidFill>
                <a:latin typeface="Menlo"/>
                <a:ea typeface="等线"/>
              </a:rPr>
              <a:t>c</a:t>
            </a:r>
            <a:r>
              <a:rPr lang="zh-CN" altLang="zh-CN" sz="1500" b="0">
                <a:solidFill>
                  <a:srgbClr val="0000FF"/>
                </a:solidFill>
                <a:effectLst/>
                <a:latin typeface="Menlo"/>
                <a:ea typeface="等线"/>
              </a:rPr>
              <a:t>t__</a:t>
            </a:r>
            <a:r>
              <a:rPr lang="zh-CN" altLang="zh-CN" sz="1500" b="0">
                <a:solidFill>
                  <a:srgbClr val="3B3B3B"/>
                </a:solidFill>
                <a:effectLst/>
                <a:latin typeface="Menlo"/>
                <a:ea typeface="等线"/>
              </a:rPr>
              <a:t> C, </a:t>
            </a:r>
            <a:r>
              <a:rPr lang="zh-CN" altLang="zh-CN" sz="1500">
                <a:solidFill>
                  <a:srgbClr val="3B3B3B"/>
                </a:solidFill>
                <a:latin typeface="Menlo"/>
                <a:ea typeface="等线"/>
              </a:rPr>
              <a:t> # restrict 的好处？</a:t>
            </a:r>
          </a:p>
          <a:p>
            <a:pPr>
              <a:lnSpc>
                <a:spcPts val="2250"/>
              </a:lnSpc>
            </a:pPr>
            <a:r>
              <a:rPr lang="zh-CN" altLang="zh-CN" sz="1500">
                <a:solidFill>
                  <a:srgbClr val="0000FF"/>
                </a:solidFill>
                <a:latin typeface="Menlo"/>
                <a:ea typeface="等线"/>
              </a:rPr>
              <a:t>    </a:t>
            </a:r>
            <a:r>
              <a:rPr lang="zh-CN" altLang="zh-CN" sz="1500" b="0">
                <a:solidFill>
                  <a:srgbClr val="0000FF"/>
                </a:solidFill>
                <a:effectLst/>
                <a:latin typeface="Menlo"/>
                <a:ea typeface="等线"/>
              </a:rPr>
              <a:t>int</a:t>
            </a:r>
            <a:r>
              <a:rPr lang="zh-CN" altLang="zh-CN" sz="1500" b="0">
                <a:solidFill>
                  <a:srgbClr val="3B3B3B"/>
                </a:solidFill>
                <a:effectLst/>
                <a:latin typeface="Menlo"/>
                <a:ea typeface="等线"/>
              </a:rPr>
              <a:t> M, </a:t>
            </a:r>
            <a:r>
              <a:rPr lang="zh-CN" altLang="zh-CN" sz="1500" b="0">
                <a:solidFill>
                  <a:srgbClr val="0000FF"/>
                </a:solidFill>
                <a:effectLst/>
                <a:latin typeface="Menlo"/>
                <a:ea typeface="等线"/>
              </a:rPr>
              <a:t>int</a:t>
            </a:r>
            <a:r>
              <a:rPr lang="zh-CN" altLang="zh-CN" sz="1500" b="0">
                <a:solidFill>
                  <a:srgbClr val="3B3B3B"/>
                </a:solidFill>
                <a:effectLst/>
                <a:latin typeface="Menlo"/>
                <a:ea typeface="等线"/>
              </a:rPr>
              <a:t> N,</a:t>
            </a:r>
            <a:r>
              <a:rPr lang="zh-CN" altLang="zh-CN" sz="1500">
                <a:solidFill>
                  <a:srgbClr val="3B3B3B"/>
                </a:solidFill>
                <a:latin typeface="Menlo"/>
                <a:ea typeface="等线"/>
              </a:rPr>
              <a:t> </a:t>
            </a:r>
            <a:r>
              <a:rPr lang="zh-CN" altLang="zh-CN" sz="1500" b="0">
                <a:solidFill>
                  <a:srgbClr val="0000FF"/>
                </a:solidFill>
                <a:effectLst/>
                <a:latin typeface="Menlo"/>
                <a:ea typeface="等线"/>
              </a:rPr>
              <a:t>int</a:t>
            </a:r>
            <a:r>
              <a:rPr lang="zh-CN" altLang="zh-CN" sz="1500" b="0">
                <a:solidFill>
                  <a:srgbClr val="3B3B3B"/>
                </a:solidFill>
                <a:effectLst/>
                <a:latin typeface="Menlo"/>
                <a:ea typeface="等线"/>
              </a:rPr>
              <a:t> K</a:t>
            </a:r>
            <a:endParaRPr lang="zh-CN" sz="1500">
              <a:solidFill>
                <a:srgbClr val="000000"/>
              </a:solidFill>
              <a:latin typeface="Menlo"/>
              <a:ea typeface="等线"/>
            </a:endParaRPr>
          </a:p>
          <a:p>
            <a:pPr>
              <a:lnSpc>
                <a:spcPts val="2250"/>
              </a:lnSpc>
            </a:pPr>
            <a:r>
              <a:rPr lang="zh-CN" altLang="zh-CN" sz="1500" b="0">
                <a:solidFill>
                  <a:srgbClr val="3B3B3B"/>
                </a:solidFill>
                <a:effectLst/>
                <a:latin typeface="Menlo"/>
                <a:ea typeface="等线"/>
              </a:rPr>
              <a:t>) {</a:t>
            </a:r>
            <a:endParaRPr lang="zh-CN" sz="1500" b="0">
              <a:solidFill>
                <a:srgbClr val="000000"/>
              </a:solidFill>
              <a:effectLst/>
              <a:latin typeface="Menlo"/>
              <a:ea typeface="等线"/>
            </a:endParaRPr>
          </a:p>
          <a:p>
            <a:pPr>
              <a:lnSpc>
                <a:spcPts val="2250"/>
              </a:lnSpc>
            </a:pPr>
            <a:r>
              <a:rPr lang="zh-CN" altLang="zh-CN" sz="1500">
                <a:solidFill>
                  <a:srgbClr val="0000FF"/>
                </a:solidFill>
                <a:latin typeface="Menlo"/>
                <a:ea typeface="等线"/>
              </a:rPr>
              <a:t>    </a:t>
            </a:r>
            <a:r>
              <a:rPr lang="zh-CN" altLang="zh-CN" sz="1500" b="0">
                <a:solidFill>
                  <a:srgbClr val="0000FF"/>
                </a:solidFill>
                <a:effectLst/>
                <a:latin typeface="Menlo"/>
                <a:ea typeface="等线"/>
              </a:rPr>
              <a:t>int</a:t>
            </a:r>
            <a:r>
              <a:rPr lang="zh-CN" altLang="zh-CN" sz="1500" b="0">
                <a:solidFill>
                  <a:srgbClr val="3B3B3B"/>
                </a:solidFill>
                <a:effectLst/>
                <a:latin typeface="Menlo"/>
                <a:ea typeface="等线"/>
              </a:rPr>
              <a:t> row </a:t>
            </a:r>
            <a:r>
              <a:rPr lang="zh-CN" altLang="zh-CN" sz="1500" b="0">
                <a:solidFill>
                  <a:srgbClr val="000000"/>
                </a:solidFill>
                <a:effectLst/>
                <a:latin typeface="Menlo"/>
                <a:ea typeface="等线"/>
              </a:rPr>
              <a:t>=</a:t>
            </a:r>
            <a:r>
              <a:rPr lang="zh-CN" altLang="zh-CN" sz="1500" b="0">
                <a:solidFill>
                  <a:srgbClr val="3B3B3B"/>
                </a:solidFill>
                <a:effectLst/>
                <a:latin typeface="Menlo"/>
                <a:ea typeface="等线"/>
              </a:rPr>
              <a:t> </a:t>
            </a:r>
            <a:r>
              <a:rPr lang="zh-CN" altLang="zh-CN" sz="1500" b="0">
                <a:solidFill>
                  <a:srgbClr val="0000FF"/>
                </a:solidFill>
                <a:effectLst/>
                <a:latin typeface="Menlo"/>
                <a:ea typeface="等线"/>
              </a:rPr>
              <a:t>blockIdx</a:t>
            </a:r>
            <a:r>
              <a:rPr lang="zh-CN" altLang="zh-CN" sz="1500" b="0">
                <a:solidFill>
                  <a:srgbClr val="3B3B3B"/>
                </a:solidFill>
                <a:effectLst/>
                <a:latin typeface="Menlo"/>
                <a:ea typeface="等线"/>
              </a:rPr>
              <a:t>.y </a:t>
            </a:r>
            <a:r>
              <a:rPr lang="zh-CN" altLang="zh-CN" sz="1500" b="0">
                <a:solidFill>
                  <a:srgbClr val="000000"/>
                </a:solidFill>
                <a:effectLst/>
                <a:latin typeface="Menlo"/>
                <a:ea typeface="等线"/>
              </a:rPr>
              <a:t>*</a:t>
            </a:r>
            <a:r>
              <a:rPr lang="zh-CN" altLang="zh-CN" sz="1500" b="0">
                <a:solidFill>
                  <a:srgbClr val="3B3B3B"/>
                </a:solidFill>
                <a:effectLst/>
                <a:latin typeface="Menlo"/>
                <a:ea typeface="等线"/>
              </a:rPr>
              <a:t> </a:t>
            </a:r>
            <a:r>
              <a:rPr lang="zh-CN" altLang="zh-CN" sz="1500" b="0">
                <a:solidFill>
                  <a:srgbClr val="0000FF"/>
                </a:solidFill>
                <a:effectLst/>
                <a:latin typeface="Menlo"/>
                <a:ea typeface="等线"/>
              </a:rPr>
              <a:t>blockDim</a:t>
            </a:r>
            <a:r>
              <a:rPr lang="zh-CN" altLang="zh-CN" sz="1500" b="0">
                <a:solidFill>
                  <a:srgbClr val="3B3B3B"/>
                </a:solidFill>
                <a:effectLst/>
                <a:latin typeface="Menlo"/>
                <a:ea typeface="等线"/>
              </a:rPr>
              <a:t>.y </a:t>
            </a:r>
            <a:r>
              <a:rPr lang="zh-CN" altLang="zh-CN" sz="1500" b="0">
                <a:solidFill>
                  <a:srgbClr val="000000"/>
                </a:solidFill>
                <a:effectLst/>
                <a:latin typeface="Menlo"/>
                <a:ea typeface="等线"/>
              </a:rPr>
              <a:t>+</a:t>
            </a:r>
            <a:r>
              <a:rPr lang="zh-CN" altLang="zh-CN" sz="1500" b="0">
                <a:solidFill>
                  <a:srgbClr val="3B3B3B"/>
                </a:solidFill>
                <a:effectLst/>
                <a:latin typeface="Menlo"/>
                <a:ea typeface="等线"/>
              </a:rPr>
              <a:t> </a:t>
            </a:r>
            <a:r>
              <a:rPr lang="zh-CN" altLang="zh-CN" sz="1500" b="0">
                <a:solidFill>
                  <a:srgbClr val="0000FF"/>
                </a:solidFill>
                <a:effectLst/>
                <a:latin typeface="Menlo"/>
                <a:ea typeface="等线"/>
              </a:rPr>
              <a:t>threadIdx</a:t>
            </a:r>
            <a:r>
              <a:rPr lang="zh-CN" altLang="zh-CN" sz="1500" b="0">
                <a:solidFill>
                  <a:srgbClr val="3B3B3B"/>
                </a:solidFill>
                <a:effectLst/>
                <a:latin typeface="Menlo"/>
                <a:ea typeface="等线"/>
              </a:rPr>
              <a:t>.y;</a:t>
            </a:r>
          </a:p>
          <a:p>
            <a:pPr>
              <a:lnSpc>
                <a:spcPts val="2250"/>
              </a:lnSpc>
            </a:pPr>
            <a:r>
              <a:rPr lang="zh-CN" altLang="zh-CN" sz="1500">
                <a:solidFill>
                  <a:srgbClr val="0000FF"/>
                </a:solidFill>
                <a:latin typeface="Menlo"/>
                <a:ea typeface="等线"/>
              </a:rPr>
              <a:t>    </a:t>
            </a:r>
            <a:r>
              <a:rPr lang="zh-CN" altLang="zh-CN" sz="1500" b="0">
                <a:solidFill>
                  <a:srgbClr val="0000FF"/>
                </a:solidFill>
                <a:effectLst/>
                <a:latin typeface="Menlo"/>
                <a:ea typeface="等线"/>
              </a:rPr>
              <a:t>int</a:t>
            </a:r>
            <a:r>
              <a:rPr lang="zh-CN" altLang="zh-CN" sz="1500" b="0">
                <a:solidFill>
                  <a:srgbClr val="3B3B3B"/>
                </a:solidFill>
                <a:effectLst/>
                <a:latin typeface="Menlo"/>
                <a:ea typeface="等线"/>
              </a:rPr>
              <a:t> col </a:t>
            </a:r>
            <a:r>
              <a:rPr lang="zh-CN" altLang="zh-CN" sz="1500" b="0">
                <a:solidFill>
                  <a:srgbClr val="000000"/>
                </a:solidFill>
                <a:effectLst/>
                <a:latin typeface="Menlo"/>
                <a:ea typeface="等线"/>
              </a:rPr>
              <a:t>=</a:t>
            </a:r>
            <a:r>
              <a:rPr lang="zh-CN" altLang="zh-CN" sz="1500" b="0">
                <a:solidFill>
                  <a:srgbClr val="3B3B3B"/>
                </a:solidFill>
                <a:effectLst/>
                <a:latin typeface="Menlo"/>
                <a:ea typeface="等线"/>
              </a:rPr>
              <a:t> </a:t>
            </a:r>
            <a:r>
              <a:rPr lang="zh-CN" altLang="zh-CN" sz="1500" b="0">
                <a:solidFill>
                  <a:srgbClr val="0000FF"/>
                </a:solidFill>
                <a:effectLst/>
                <a:latin typeface="Menlo"/>
                <a:ea typeface="等线"/>
              </a:rPr>
              <a:t>blockIdx</a:t>
            </a:r>
            <a:r>
              <a:rPr lang="zh-CN" altLang="zh-CN" sz="1500" b="0">
                <a:solidFill>
                  <a:srgbClr val="3B3B3B"/>
                </a:solidFill>
                <a:effectLst/>
                <a:latin typeface="Menlo"/>
                <a:ea typeface="等线"/>
              </a:rPr>
              <a:t>.x </a:t>
            </a:r>
            <a:r>
              <a:rPr lang="zh-CN" altLang="zh-CN" sz="1500" b="0">
                <a:solidFill>
                  <a:srgbClr val="000000"/>
                </a:solidFill>
                <a:effectLst/>
                <a:latin typeface="Menlo"/>
                <a:ea typeface="等线"/>
              </a:rPr>
              <a:t>*</a:t>
            </a:r>
            <a:r>
              <a:rPr lang="zh-CN" altLang="zh-CN" sz="1500" b="0">
                <a:solidFill>
                  <a:srgbClr val="3B3B3B"/>
                </a:solidFill>
                <a:effectLst/>
                <a:latin typeface="Menlo"/>
                <a:ea typeface="等线"/>
              </a:rPr>
              <a:t> </a:t>
            </a:r>
            <a:r>
              <a:rPr lang="zh-CN" altLang="zh-CN" sz="1500" b="0">
                <a:solidFill>
                  <a:srgbClr val="0000FF"/>
                </a:solidFill>
                <a:effectLst/>
                <a:latin typeface="Menlo"/>
                <a:ea typeface="等线"/>
              </a:rPr>
              <a:t>blockDim</a:t>
            </a:r>
            <a:r>
              <a:rPr lang="zh-CN" altLang="zh-CN" sz="1500" b="0">
                <a:solidFill>
                  <a:srgbClr val="3B3B3B"/>
                </a:solidFill>
                <a:effectLst/>
                <a:latin typeface="Menlo"/>
                <a:ea typeface="等线"/>
              </a:rPr>
              <a:t>.x </a:t>
            </a:r>
            <a:r>
              <a:rPr lang="zh-CN" altLang="zh-CN" sz="1500" b="0">
                <a:solidFill>
                  <a:srgbClr val="000000"/>
                </a:solidFill>
                <a:effectLst/>
                <a:latin typeface="Menlo"/>
                <a:ea typeface="等线"/>
              </a:rPr>
              <a:t>+</a:t>
            </a:r>
            <a:r>
              <a:rPr lang="zh-CN" altLang="zh-CN" sz="1500" b="0">
                <a:solidFill>
                  <a:srgbClr val="3B3B3B"/>
                </a:solidFill>
                <a:effectLst/>
                <a:latin typeface="Menlo"/>
                <a:ea typeface="等线"/>
              </a:rPr>
              <a:t> </a:t>
            </a:r>
            <a:r>
              <a:rPr lang="zh-CN" altLang="zh-CN" sz="1500" b="0">
                <a:solidFill>
                  <a:srgbClr val="0000FF"/>
                </a:solidFill>
                <a:effectLst/>
                <a:latin typeface="Menlo"/>
                <a:ea typeface="等线"/>
              </a:rPr>
              <a:t>threadIdx</a:t>
            </a:r>
            <a:r>
              <a:rPr lang="zh-CN" altLang="zh-CN" sz="1500" b="0">
                <a:solidFill>
                  <a:srgbClr val="3B3B3B"/>
                </a:solidFill>
                <a:effectLst/>
                <a:latin typeface="Menlo"/>
                <a:ea typeface="等线"/>
              </a:rPr>
              <a:t>.x;</a:t>
            </a:r>
          </a:p>
          <a:p>
            <a:pPr>
              <a:lnSpc>
                <a:spcPts val="2250"/>
              </a:lnSpc>
            </a:pPr>
            <a:r>
              <a:rPr lang="zh-CN" altLang="zh-CN" sz="1500">
                <a:solidFill>
                  <a:srgbClr val="AF00DB"/>
                </a:solidFill>
                <a:latin typeface="Menlo"/>
                <a:ea typeface="等线"/>
              </a:rPr>
              <a:t>    </a:t>
            </a:r>
            <a:r>
              <a:rPr lang="zh-CN" altLang="zh-CN" sz="1500" b="0">
                <a:solidFill>
                  <a:srgbClr val="AF00DB"/>
                </a:solidFill>
                <a:effectLst/>
                <a:latin typeface="Menlo"/>
                <a:ea typeface="等线"/>
              </a:rPr>
              <a:t>if</a:t>
            </a:r>
            <a:r>
              <a:rPr lang="zh-CN" altLang="zh-CN" sz="1500" b="0">
                <a:solidFill>
                  <a:srgbClr val="3B3B3B"/>
                </a:solidFill>
                <a:effectLst/>
                <a:latin typeface="Menlo"/>
                <a:ea typeface="等线"/>
              </a:rPr>
              <a:t> (row </a:t>
            </a:r>
            <a:r>
              <a:rPr lang="zh-CN" altLang="zh-CN" sz="1500" b="0">
                <a:solidFill>
                  <a:srgbClr val="000000"/>
                </a:solidFill>
                <a:effectLst/>
                <a:latin typeface="Menlo"/>
                <a:ea typeface="等线"/>
              </a:rPr>
              <a:t>&gt;=</a:t>
            </a:r>
            <a:r>
              <a:rPr lang="zh-CN" altLang="zh-CN" sz="1500" b="0">
                <a:solidFill>
                  <a:srgbClr val="3B3B3B"/>
                </a:solidFill>
                <a:effectLst/>
                <a:latin typeface="Menlo"/>
                <a:ea typeface="等线"/>
              </a:rPr>
              <a:t> M </a:t>
            </a:r>
            <a:r>
              <a:rPr lang="zh-CN" altLang="zh-CN" sz="1500" b="0">
                <a:solidFill>
                  <a:srgbClr val="000000"/>
                </a:solidFill>
                <a:effectLst/>
                <a:latin typeface="Menlo"/>
                <a:ea typeface="等线"/>
              </a:rPr>
              <a:t>||</a:t>
            </a:r>
            <a:r>
              <a:rPr lang="zh-CN" altLang="zh-CN" sz="1500" b="0">
                <a:solidFill>
                  <a:srgbClr val="3B3B3B"/>
                </a:solidFill>
                <a:effectLst/>
                <a:latin typeface="Menlo"/>
                <a:ea typeface="等线"/>
              </a:rPr>
              <a:t> col </a:t>
            </a:r>
            <a:r>
              <a:rPr lang="zh-CN" altLang="zh-CN" sz="1500" b="0">
                <a:solidFill>
                  <a:srgbClr val="000000"/>
                </a:solidFill>
                <a:effectLst/>
                <a:latin typeface="Menlo"/>
                <a:ea typeface="等线"/>
              </a:rPr>
              <a:t>&gt;=</a:t>
            </a:r>
            <a:r>
              <a:rPr lang="zh-CN" altLang="zh-CN" sz="1500" b="0">
                <a:solidFill>
                  <a:srgbClr val="3B3B3B"/>
                </a:solidFill>
                <a:effectLst/>
                <a:latin typeface="Menlo"/>
                <a:ea typeface="等线"/>
              </a:rPr>
              <a:t> N) </a:t>
            </a:r>
            <a:r>
              <a:rPr lang="zh-CN" altLang="zh-CN" sz="1500" b="0">
                <a:solidFill>
                  <a:srgbClr val="AF00DB"/>
                </a:solidFill>
                <a:effectLst/>
                <a:latin typeface="Menlo"/>
                <a:ea typeface="等线"/>
              </a:rPr>
              <a:t>return</a:t>
            </a:r>
            <a:r>
              <a:rPr lang="zh-CN" altLang="zh-CN" sz="1500" b="0">
                <a:solidFill>
                  <a:srgbClr val="3B3B3B"/>
                </a:solidFill>
                <a:effectLst/>
                <a:latin typeface="Menlo"/>
                <a:ea typeface="等线"/>
              </a:rPr>
              <a:t>;</a:t>
            </a:r>
            <a:endParaRPr lang="zh-CN" altLang="zh-CN" sz="1500" b="0">
              <a:effectLst/>
              <a:latin typeface="Menlo" panose="020B0609030804020204" pitchFamily="49" charset="0"/>
            </a:endParaRPr>
          </a:p>
          <a:p>
            <a:pPr>
              <a:lnSpc>
                <a:spcPts val="2250"/>
              </a:lnSpc>
            </a:pPr>
            <a:r>
              <a:rPr lang="zh-CN" altLang="zh-CN" sz="1500">
                <a:solidFill>
                  <a:srgbClr val="0000FF"/>
                </a:solidFill>
                <a:latin typeface="Menlo"/>
                <a:ea typeface="等线"/>
              </a:rPr>
              <a:t>    </a:t>
            </a:r>
            <a:r>
              <a:rPr lang="zh-CN" altLang="zh-CN" sz="1500" b="0">
                <a:solidFill>
                  <a:srgbClr val="0000FF"/>
                </a:solidFill>
                <a:effectLst/>
                <a:latin typeface="Menlo"/>
                <a:ea typeface="等线"/>
              </a:rPr>
              <a:t>float</a:t>
            </a:r>
            <a:r>
              <a:rPr lang="zh-CN" altLang="zh-CN" sz="1500" b="0">
                <a:solidFill>
                  <a:srgbClr val="3B3B3B"/>
                </a:solidFill>
                <a:effectLst/>
                <a:latin typeface="Menlo"/>
                <a:ea typeface="等线"/>
              </a:rPr>
              <a:t> acc </a:t>
            </a:r>
            <a:r>
              <a:rPr lang="zh-CN" altLang="zh-CN" sz="1500" b="0">
                <a:solidFill>
                  <a:srgbClr val="000000"/>
                </a:solidFill>
                <a:effectLst/>
                <a:latin typeface="Menlo"/>
                <a:ea typeface="等线"/>
              </a:rPr>
              <a:t>=</a:t>
            </a:r>
            <a:r>
              <a:rPr lang="zh-CN" altLang="zh-CN" sz="1500" b="0">
                <a:solidFill>
                  <a:srgbClr val="3B3B3B"/>
                </a:solidFill>
                <a:effectLst/>
                <a:latin typeface="Menlo"/>
                <a:ea typeface="等线"/>
              </a:rPr>
              <a:t> </a:t>
            </a:r>
            <a:r>
              <a:rPr lang="zh-CN" altLang="zh-CN" sz="1500" b="0">
                <a:solidFill>
                  <a:srgbClr val="098658"/>
                </a:solidFill>
                <a:effectLst/>
                <a:latin typeface="Menlo"/>
                <a:ea typeface="等线"/>
              </a:rPr>
              <a:t>0.0f</a:t>
            </a:r>
            <a:r>
              <a:rPr lang="zh-CN" altLang="zh-CN" sz="1500" b="0">
                <a:solidFill>
                  <a:srgbClr val="3B3B3B"/>
                </a:solidFill>
                <a:effectLst/>
                <a:latin typeface="Menlo"/>
                <a:ea typeface="等线"/>
              </a:rPr>
              <a:t>;</a:t>
            </a:r>
          </a:p>
          <a:p>
            <a:pPr>
              <a:lnSpc>
                <a:spcPts val="2250"/>
              </a:lnSpc>
            </a:pPr>
            <a:r>
              <a:rPr lang="zh-CN" altLang="zh-CN" sz="1500">
                <a:solidFill>
                  <a:srgbClr val="AF00DB"/>
                </a:solidFill>
                <a:latin typeface="Menlo"/>
                <a:ea typeface="等线"/>
              </a:rPr>
              <a:t>    </a:t>
            </a:r>
            <a:r>
              <a:rPr lang="zh-CN" altLang="zh-CN" sz="1500" b="0">
                <a:solidFill>
                  <a:srgbClr val="AF00DB"/>
                </a:solidFill>
                <a:effectLst/>
                <a:latin typeface="Menlo"/>
                <a:ea typeface="等线"/>
              </a:rPr>
              <a:t>for</a:t>
            </a:r>
            <a:r>
              <a:rPr lang="zh-CN" altLang="zh-CN" sz="1500" b="0">
                <a:solidFill>
                  <a:srgbClr val="3B3B3B"/>
                </a:solidFill>
                <a:effectLst/>
                <a:latin typeface="Menlo"/>
                <a:ea typeface="等线"/>
              </a:rPr>
              <a:t> (</a:t>
            </a:r>
            <a:r>
              <a:rPr lang="zh-CN" altLang="zh-CN" sz="1500" b="0">
                <a:solidFill>
                  <a:srgbClr val="0000FF"/>
                </a:solidFill>
                <a:effectLst/>
                <a:latin typeface="Menlo"/>
                <a:ea typeface="等线"/>
              </a:rPr>
              <a:t>int</a:t>
            </a:r>
            <a:r>
              <a:rPr lang="zh-CN" altLang="zh-CN" sz="1500" b="0">
                <a:solidFill>
                  <a:srgbClr val="3B3B3B"/>
                </a:solidFill>
                <a:effectLst/>
                <a:latin typeface="Menlo"/>
                <a:ea typeface="等线"/>
              </a:rPr>
              <a:t> k </a:t>
            </a:r>
            <a:r>
              <a:rPr lang="zh-CN" altLang="zh-CN" sz="1500" b="0">
                <a:solidFill>
                  <a:srgbClr val="000000"/>
                </a:solidFill>
                <a:effectLst/>
                <a:latin typeface="Menlo"/>
                <a:ea typeface="等线"/>
              </a:rPr>
              <a:t>=</a:t>
            </a:r>
            <a:r>
              <a:rPr lang="zh-CN" altLang="zh-CN" sz="1500" b="0">
                <a:solidFill>
                  <a:srgbClr val="3B3B3B"/>
                </a:solidFill>
                <a:effectLst/>
                <a:latin typeface="Menlo"/>
                <a:ea typeface="等线"/>
              </a:rPr>
              <a:t> </a:t>
            </a:r>
            <a:r>
              <a:rPr lang="zh-CN" altLang="zh-CN" sz="1500" b="0">
                <a:solidFill>
                  <a:srgbClr val="098658"/>
                </a:solidFill>
                <a:effectLst/>
                <a:latin typeface="Menlo"/>
                <a:ea typeface="等线"/>
              </a:rPr>
              <a:t>0</a:t>
            </a:r>
            <a:r>
              <a:rPr lang="zh-CN" altLang="zh-CN" sz="1500" b="0">
                <a:solidFill>
                  <a:srgbClr val="3B3B3B"/>
                </a:solidFill>
                <a:effectLst/>
                <a:latin typeface="Menlo"/>
                <a:ea typeface="等线"/>
              </a:rPr>
              <a:t>; k </a:t>
            </a:r>
            <a:r>
              <a:rPr lang="zh-CN" altLang="zh-CN" sz="1500" b="0">
                <a:solidFill>
                  <a:srgbClr val="000000"/>
                </a:solidFill>
                <a:effectLst/>
                <a:latin typeface="Menlo"/>
                <a:ea typeface="等线"/>
              </a:rPr>
              <a:t>&lt;</a:t>
            </a:r>
            <a:r>
              <a:rPr lang="zh-CN" altLang="zh-CN" sz="1500" b="0">
                <a:solidFill>
                  <a:srgbClr val="3B3B3B"/>
                </a:solidFill>
                <a:effectLst/>
                <a:latin typeface="Menlo"/>
                <a:ea typeface="等线"/>
              </a:rPr>
              <a:t> K; </a:t>
            </a:r>
            <a:r>
              <a:rPr lang="zh-CN" altLang="zh-CN" sz="1500" b="0">
                <a:solidFill>
                  <a:srgbClr val="000000"/>
                </a:solidFill>
                <a:effectLst/>
                <a:latin typeface="Menlo"/>
                <a:ea typeface="等线"/>
              </a:rPr>
              <a:t>++</a:t>
            </a:r>
            <a:r>
              <a:rPr lang="zh-CN" altLang="zh-CN" sz="1500" b="0">
                <a:solidFill>
                  <a:srgbClr val="3B3B3B"/>
                </a:solidFill>
                <a:effectLst/>
                <a:latin typeface="Menlo"/>
                <a:ea typeface="等线"/>
              </a:rPr>
              <a:t>k) {</a:t>
            </a:r>
          </a:p>
          <a:p>
            <a:pPr>
              <a:lnSpc>
                <a:spcPts val="2250"/>
              </a:lnSpc>
            </a:pPr>
            <a:r>
              <a:rPr lang="zh-CN" altLang="zh-CN" sz="1500">
                <a:solidFill>
                  <a:srgbClr val="3B3B3B"/>
                </a:solidFill>
                <a:latin typeface="Menlo"/>
                <a:ea typeface="等线"/>
              </a:rPr>
              <a:t>        </a:t>
            </a:r>
            <a:r>
              <a:rPr lang="zh-CN" altLang="zh-CN" sz="1500" b="0">
                <a:solidFill>
                  <a:srgbClr val="3B3B3B"/>
                </a:solidFill>
                <a:effectLst/>
                <a:latin typeface="Menlo"/>
                <a:ea typeface="等线"/>
              </a:rPr>
              <a:t>acc </a:t>
            </a:r>
            <a:r>
              <a:rPr lang="zh-CN" altLang="zh-CN" sz="1500" b="0">
                <a:solidFill>
                  <a:srgbClr val="000000"/>
                </a:solidFill>
                <a:effectLst/>
                <a:latin typeface="Menlo"/>
                <a:ea typeface="等线"/>
              </a:rPr>
              <a:t>=</a:t>
            </a:r>
            <a:r>
              <a:rPr lang="zh-CN" altLang="zh-CN" sz="1500" b="0">
                <a:solidFill>
                  <a:srgbClr val="3B3B3B"/>
                </a:solidFill>
                <a:effectLst/>
                <a:latin typeface="Menlo"/>
                <a:ea typeface="等线"/>
              </a:rPr>
              <a:t> </a:t>
            </a:r>
            <a:r>
              <a:rPr lang="zh-CN" altLang="zh-CN" sz="1500" b="0">
                <a:solidFill>
                  <a:srgbClr val="795E26"/>
                </a:solidFill>
                <a:effectLst/>
                <a:latin typeface="Menlo"/>
                <a:ea typeface="等线"/>
              </a:rPr>
              <a:t>fmaf</a:t>
            </a:r>
            <a:r>
              <a:rPr lang="zh-CN" altLang="zh-CN" sz="1500" b="0">
                <a:solidFill>
                  <a:srgbClr val="3B3B3B"/>
                </a:solidFill>
                <a:effectLst/>
                <a:latin typeface="Menlo"/>
                <a:ea typeface="等线"/>
              </a:rPr>
              <a:t>(</a:t>
            </a:r>
            <a:r>
              <a:rPr lang="zh-CN" altLang="zh-CN" sz="1500" b="0">
                <a:solidFill>
                  <a:srgbClr val="001080"/>
                </a:solidFill>
                <a:effectLst/>
                <a:latin typeface="Menlo"/>
                <a:ea typeface="等线"/>
              </a:rPr>
              <a:t>A</a:t>
            </a:r>
            <a:r>
              <a:rPr lang="zh-CN" altLang="zh-CN" sz="1500" b="0">
                <a:solidFill>
                  <a:srgbClr val="3B3B3B"/>
                </a:solidFill>
                <a:effectLst/>
                <a:latin typeface="Menlo"/>
                <a:ea typeface="等线"/>
              </a:rPr>
              <a:t>[row </a:t>
            </a:r>
            <a:r>
              <a:rPr lang="zh-CN" altLang="zh-CN" sz="1500" b="0">
                <a:solidFill>
                  <a:srgbClr val="000000"/>
                </a:solidFill>
                <a:effectLst/>
                <a:latin typeface="Menlo"/>
                <a:ea typeface="等线"/>
              </a:rPr>
              <a:t>*</a:t>
            </a:r>
            <a:r>
              <a:rPr lang="zh-CN" altLang="zh-CN" sz="1500" b="0">
                <a:solidFill>
                  <a:srgbClr val="3B3B3B"/>
                </a:solidFill>
                <a:effectLst/>
                <a:latin typeface="Menlo"/>
                <a:ea typeface="等线"/>
              </a:rPr>
              <a:t> K </a:t>
            </a:r>
            <a:r>
              <a:rPr lang="zh-CN" altLang="zh-CN" sz="1500" b="0">
                <a:solidFill>
                  <a:srgbClr val="000000"/>
                </a:solidFill>
                <a:effectLst/>
                <a:latin typeface="Menlo"/>
                <a:ea typeface="等线"/>
              </a:rPr>
              <a:t>+</a:t>
            </a:r>
            <a:r>
              <a:rPr lang="zh-CN" altLang="zh-CN" sz="1500" b="0">
                <a:solidFill>
                  <a:srgbClr val="3B3B3B"/>
                </a:solidFill>
                <a:effectLst/>
                <a:latin typeface="Menlo"/>
                <a:ea typeface="等线"/>
              </a:rPr>
              <a:t> k],</a:t>
            </a:r>
            <a:r>
              <a:rPr lang="zh-CN" altLang="zh-CN" sz="1500">
                <a:solidFill>
                  <a:srgbClr val="3B3B3B"/>
                </a:solidFill>
                <a:latin typeface="Menlo"/>
                <a:ea typeface="等线"/>
              </a:rPr>
              <a:t> </a:t>
            </a:r>
            <a:r>
              <a:rPr lang="zh-CN" altLang="zh-CN" sz="1500" b="0">
                <a:solidFill>
                  <a:srgbClr val="001080"/>
                </a:solidFill>
                <a:effectLst/>
                <a:latin typeface="Menlo"/>
                <a:ea typeface="等线"/>
              </a:rPr>
              <a:t>B</a:t>
            </a:r>
            <a:r>
              <a:rPr lang="zh-CN" altLang="zh-CN" sz="1500" b="0">
                <a:solidFill>
                  <a:srgbClr val="3B3B3B"/>
                </a:solidFill>
                <a:effectLst/>
                <a:latin typeface="Menlo"/>
                <a:ea typeface="等线"/>
              </a:rPr>
              <a:t>[k </a:t>
            </a:r>
            <a:r>
              <a:rPr lang="zh-CN" altLang="zh-CN" sz="1500" b="0">
                <a:solidFill>
                  <a:srgbClr val="000000"/>
                </a:solidFill>
                <a:effectLst/>
                <a:latin typeface="Menlo"/>
                <a:ea typeface="等线"/>
              </a:rPr>
              <a:t>*</a:t>
            </a:r>
            <a:r>
              <a:rPr lang="zh-CN" altLang="zh-CN" sz="1500" b="0">
                <a:solidFill>
                  <a:srgbClr val="3B3B3B"/>
                </a:solidFill>
                <a:effectLst/>
                <a:latin typeface="Menlo"/>
                <a:ea typeface="等线"/>
              </a:rPr>
              <a:t> N </a:t>
            </a:r>
            <a:r>
              <a:rPr lang="zh-CN" altLang="zh-CN" sz="1500" b="0">
                <a:solidFill>
                  <a:srgbClr val="000000"/>
                </a:solidFill>
                <a:effectLst/>
                <a:latin typeface="Menlo"/>
                <a:ea typeface="等线"/>
              </a:rPr>
              <a:t>+</a:t>
            </a:r>
            <a:r>
              <a:rPr lang="zh-CN" altLang="zh-CN" sz="1500" b="0">
                <a:solidFill>
                  <a:srgbClr val="3B3B3B"/>
                </a:solidFill>
                <a:effectLst/>
                <a:latin typeface="Menlo"/>
                <a:ea typeface="等线"/>
              </a:rPr>
              <a:t> col], acc);</a:t>
            </a:r>
          </a:p>
          <a:p>
            <a:pPr>
              <a:lnSpc>
                <a:spcPts val="2250"/>
              </a:lnSpc>
            </a:pPr>
            <a:r>
              <a:rPr lang="zh-CN" altLang="zh-CN" sz="1500">
                <a:solidFill>
                  <a:srgbClr val="3B3B3B"/>
                </a:solidFill>
                <a:latin typeface="Menlo"/>
                <a:ea typeface="等线"/>
              </a:rPr>
              <a:t>    </a:t>
            </a:r>
            <a:r>
              <a:rPr lang="zh-CN" altLang="zh-CN" sz="1500" b="0">
                <a:solidFill>
                  <a:srgbClr val="3B3B3B"/>
                </a:solidFill>
                <a:effectLst/>
                <a:latin typeface="Menlo"/>
                <a:ea typeface="等线"/>
              </a:rPr>
              <a:t>}</a:t>
            </a:r>
          </a:p>
          <a:p>
            <a:pPr>
              <a:lnSpc>
                <a:spcPts val="2250"/>
              </a:lnSpc>
            </a:pPr>
            <a:r>
              <a:rPr lang="zh-CN" altLang="zh-CN" sz="1500">
                <a:solidFill>
                  <a:srgbClr val="001080"/>
                </a:solidFill>
                <a:latin typeface="Menlo"/>
                <a:ea typeface="等线"/>
              </a:rPr>
              <a:t>    </a:t>
            </a:r>
            <a:r>
              <a:rPr lang="zh-CN" altLang="zh-CN" sz="1500" b="0">
                <a:solidFill>
                  <a:srgbClr val="001080"/>
                </a:solidFill>
                <a:effectLst/>
                <a:latin typeface="Menlo"/>
                <a:ea typeface="等线"/>
              </a:rPr>
              <a:t>C</a:t>
            </a:r>
            <a:r>
              <a:rPr lang="zh-CN" altLang="zh-CN" sz="1500" b="0">
                <a:solidFill>
                  <a:srgbClr val="3B3B3B"/>
                </a:solidFill>
                <a:effectLst/>
                <a:latin typeface="Menlo"/>
                <a:ea typeface="等线"/>
              </a:rPr>
              <a:t>[row </a:t>
            </a:r>
            <a:r>
              <a:rPr lang="zh-CN" altLang="zh-CN" sz="1500" b="0">
                <a:solidFill>
                  <a:srgbClr val="000000"/>
                </a:solidFill>
                <a:effectLst/>
                <a:latin typeface="Menlo"/>
                <a:ea typeface="等线"/>
              </a:rPr>
              <a:t>*</a:t>
            </a:r>
            <a:r>
              <a:rPr lang="zh-CN" altLang="zh-CN" sz="1500" b="0">
                <a:solidFill>
                  <a:srgbClr val="3B3B3B"/>
                </a:solidFill>
                <a:effectLst/>
                <a:latin typeface="Menlo"/>
                <a:ea typeface="等线"/>
              </a:rPr>
              <a:t> N </a:t>
            </a:r>
            <a:r>
              <a:rPr lang="zh-CN" altLang="zh-CN" sz="1500" b="0">
                <a:solidFill>
                  <a:srgbClr val="000000"/>
                </a:solidFill>
                <a:effectLst/>
                <a:latin typeface="Menlo"/>
                <a:ea typeface="等线"/>
              </a:rPr>
              <a:t>+</a:t>
            </a:r>
            <a:r>
              <a:rPr lang="zh-CN" altLang="zh-CN" sz="1500" b="0">
                <a:solidFill>
                  <a:srgbClr val="3B3B3B"/>
                </a:solidFill>
                <a:effectLst/>
                <a:latin typeface="Menlo"/>
                <a:ea typeface="等线"/>
              </a:rPr>
              <a:t> col] </a:t>
            </a:r>
            <a:r>
              <a:rPr lang="zh-CN" altLang="zh-CN" sz="1500" b="0">
                <a:solidFill>
                  <a:srgbClr val="000000"/>
                </a:solidFill>
                <a:effectLst/>
                <a:latin typeface="Menlo"/>
                <a:ea typeface="等线"/>
              </a:rPr>
              <a:t>=</a:t>
            </a:r>
            <a:r>
              <a:rPr lang="zh-CN" altLang="zh-CN" sz="1500" b="0">
                <a:solidFill>
                  <a:srgbClr val="3B3B3B"/>
                </a:solidFill>
                <a:effectLst/>
                <a:latin typeface="Menlo"/>
                <a:ea typeface="等线"/>
              </a:rPr>
              <a:t> acc;</a:t>
            </a:r>
          </a:p>
          <a:p>
            <a:pPr>
              <a:lnSpc>
                <a:spcPts val="2250"/>
              </a:lnSpc>
              <a:buNone/>
            </a:pPr>
            <a:r>
              <a:rPr lang="zh-CN" altLang="zh-CN" sz="1512" b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pPr>
              <a:lnSpc>
                <a:spcPts val="2250"/>
              </a:lnSpc>
            </a:pPr>
            <a:endParaRPr lang="zh-CN" altLang="zh-CN" sz="1500">
              <a:solidFill>
                <a:srgbClr val="3B3B3B"/>
              </a:solidFill>
              <a:latin typeface="Menlo"/>
              <a:ea typeface="等线"/>
            </a:endParaRPr>
          </a:p>
          <a:p>
            <a:r>
              <a:rPr lang="zh-CN" sz="1300">
                <a:solidFill>
                  <a:srgbClr val="0000FF"/>
                </a:solidFill>
                <a:highlight>
                  <a:srgbClr val="FFFFFF"/>
                </a:highlight>
                <a:latin typeface="Menlo"/>
                <a:ea typeface="等线"/>
              </a:rPr>
              <a:t>dim3</a:t>
            </a:r>
            <a:r>
              <a:rPr lang="zh-CN" sz="1300">
                <a:solidFill>
                  <a:srgbClr val="3B3B3B"/>
                </a:solidFill>
                <a:highlight>
                  <a:srgbClr val="FFFFFF"/>
                </a:highlight>
                <a:latin typeface="Menlo"/>
                <a:ea typeface="等线"/>
              </a:rPr>
              <a:t> </a:t>
            </a:r>
            <a:r>
              <a:rPr lang="zh-CN" sz="1300">
                <a:solidFill>
                  <a:srgbClr val="795E26"/>
                </a:solidFill>
                <a:highlight>
                  <a:srgbClr val="FFFFFF"/>
                </a:highlight>
                <a:latin typeface="Menlo"/>
                <a:ea typeface="等线"/>
              </a:rPr>
              <a:t>block</a:t>
            </a:r>
            <a:r>
              <a:rPr lang="zh-CN" sz="1300">
                <a:solidFill>
                  <a:srgbClr val="3B3B3B"/>
                </a:solidFill>
                <a:highlight>
                  <a:srgbClr val="FFFFFF"/>
                </a:highlight>
                <a:latin typeface="Menlo"/>
                <a:ea typeface="等线"/>
              </a:rPr>
              <a:t>(</a:t>
            </a:r>
            <a:r>
              <a:rPr lang="zh-CN" sz="1300">
                <a:solidFill>
                  <a:srgbClr val="098658"/>
                </a:solidFill>
                <a:highlight>
                  <a:srgbClr val="FFFFFF"/>
                </a:highlight>
                <a:latin typeface="Menlo"/>
                <a:ea typeface="等线"/>
              </a:rPr>
              <a:t>16</a:t>
            </a:r>
            <a:r>
              <a:rPr lang="zh-CN" sz="1300">
                <a:solidFill>
                  <a:srgbClr val="3B3B3B"/>
                </a:solidFill>
                <a:highlight>
                  <a:srgbClr val="FFFFFF"/>
                </a:highlight>
                <a:latin typeface="Menlo"/>
                <a:ea typeface="等线"/>
              </a:rPr>
              <a:t>, </a:t>
            </a:r>
            <a:r>
              <a:rPr lang="zh-CN" sz="1300">
                <a:solidFill>
                  <a:srgbClr val="098658"/>
                </a:solidFill>
                <a:highlight>
                  <a:srgbClr val="FFFFFF"/>
                </a:highlight>
                <a:latin typeface="Menlo"/>
                <a:ea typeface="等线"/>
              </a:rPr>
              <a:t>16</a:t>
            </a:r>
            <a:r>
              <a:rPr lang="zh-CN" sz="1300">
                <a:solidFill>
                  <a:srgbClr val="3B3B3B"/>
                </a:solidFill>
                <a:highlight>
                  <a:srgbClr val="FFFFFF"/>
                </a:highlight>
                <a:latin typeface="Menlo"/>
                <a:ea typeface="等线"/>
              </a:rPr>
              <a:t>); # </a:t>
            </a:r>
            <a:r>
              <a:rPr lang="zh-CN" altLang="en-US" sz="1300">
                <a:solidFill>
                  <a:srgbClr val="3B3B3B"/>
                </a:solidFill>
                <a:highlight>
                  <a:srgbClr val="FFFFFF"/>
                </a:highlight>
                <a:latin typeface="Menlo"/>
                <a:ea typeface="等线"/>
              </a:rPr>
              <a:t>二维 CTA / Thread Block ？</a:t>
            </a:r>
            <a:endParaRPr lang="zh-CN">
              <a:latin typeface="Menlo"/>
            </a:endParaRPr>
          </a:p>
          <a:p>
            <a:r>
              <a:rPr lang="zh-CN" sz="1300">
                <a:solidFill>
                  <a:srgbClr val="0000FF"/>
                </a:solidFill>
                <a:highlight>
                  <a:srgbClr val="FFFFFF"/>
                </a:highlight>
                <a:latin typeface="Menlo"/>
                <a:ea typeface="等线"/>
              </a:rPr>
              <a:t>dim3</a:t>
            </a:r>
            <a:r>
              <a:rPr lang="zh-CN" sz="1300">
                <a:solidFill>
                  <a:srgbClr val="3B3B3B"/>
                </a:solidFill>
                <a:highlight>
                  <a:srgbClr val="FFFFFF"/>
                </a:highlight>
                <a:latin typeface="Menlo"/>
                <a:ea typeface="等线"/>
              </a:rPr>
              <a:t> </a:t>
            </a:r>
            <a:r>
              <a:rPr lang="zh-CN" sz="1300">
                <a:solidFill>
                  <a:srgbClr val="795E26"/>
                </a:solidFill>
                <a:highlight>
                  <a:srgbClr val="FFFFFF"/>
                </a:highlight>
                <a:latin typeface="Menlo"/>
                <a:ea typeface="等线"/>
              </a:rPr>
              <a:t>grid</a:t>
            </a:r>
            <a:r>
              <a:rPr lang="zh-CN" sz="1300">
                <a:solidFill>
                  <a:srgbClr val="3B3B3B"/>
                </a:solidFill>
                <a:highlight>
                  <a:srgbClr val="FFFFFF"/>
                </a:highlight>
                <a:latin typeface="Menlo"/>
                <a:ea typeface="等线"/>
              </a:rPr>
              <a:t>(</a:t>
            </a:r>
            <a:r>
              <a:rPr lang="zh-CN" sz="1300">
                <a:solidFill>
                  <a:srgbClr val="795E26"/>
                </a:solidFill>
                <a:highlight>
                  <a:srgbClr val="FFFFFF"/>
                </a:highlight>
                <a:latin typeface="Menlo"/>
                <a:ea typeface="等线"/>
              </a:rPr>
              <a:t>ceil_div</a:t>
            </a:r>
            <a:r>
              <a:rPr lang="zh-CN" sz="1300">
                <a:solidFill>
                  <a:srgbClr val="3B3B3B"/>
                </a:solidFill>
                <a:highlight>
                  <a:srgbClr val="FFFFFF"/>
                </a:highlight>
                <a:latin typeface="Menlo"/>
                <a:ea typeface="等线"/>
              </a:rPr>
              <a:t>(N, </a:t>
            </a:r>
            <a:r>
              <a:rPr lang="zh-CN" sz="1300">
                <a:solidFill>
                  <a:srgbClr val="098658"/>
                </a:solidFill>
                <a:highlight>
                  <a:srgbClr val="FFFFFF"/>
                </a:highlight>
                <a:latin typeface="Menlo"/>
                <a:ea typeface="等线"/>
              </a:rPr>
              <a:t>16</a:t>
            </a:r>
            <a:r>
              <a:rPr lang="zh-CN" sz="1300">
                <a:solidFill>
                  <a:srgbClr val="3B3B3B"/>
                </a:solidFill>
                <a:highlight>
                  <a:srgbClr val="FFFFFF"/>
                </a:highlight>
                <a:latin typeface="Menlo"/>
                <a:ea typeface="等线"/>
              </a:rPr>
              <a:t>), </a:t>
            </a:r>
            <a:r>
              <a:rPr lang="zh-CN" sz="1300">
                <a:solidFill>
                  <a:srgbClr val="795E26"/>
                </a:solidFill>
                <a:highlight>
                  <a:srgbClr val="FFFFFF"/>
                </a:highlight>
                <a:latin typeface="Menlo"/>
                <a:ea typeface="等线"/>
              </a:rPr>
              <a:t>ceil_div</a:t>
            </a:r>
            <a:r>
              <a:rPr lang="zh-CN" sz="1300">
                <a:solidFill>
                  <a:srgbClr val="3B3B3B"/>
                </a:solidFill>
                <a:highlight>
                  <a:srgbClr val="FFFFFF"/>
                </a:highlight>
                <a:latin typeface="Menlo"/>
                <a:ea typeface="等线"/>
              </a:rPr>
              <a:t>(M, </a:t>
            </a:r>
            <a:r>
              <a:rPr lang="zh-CN" sz="1300">
                <a:solidFill>
                  <a:srgbClr val="098658"/>
                </a:solidFill>
                <a:highlight>
                  <a:srgbClr val="FFFFFF"/>
                </a:highlight>
                <a:latin typeface="Menlo"/>
                <a:ea typeface="等线"/>
              </a:rPr>
              <a:t>16</a:t>
            </a:r>
            <a:r>
              <a:rPr lang="zh-CN" sz="1300">
                <a:solidFill>
                  <a:srgbClr val="3B3B3B"/>
                </a:solidFill>
                <a:highlight>
                  <a:srgbClr val="FFFFFF"/>
                </a:highlight>
                <a:latin typeface="Menlo"/>
                <a:ea typeface="等线"/>
              </a:rPr>
              <a:t>));</a:t>
            </a:r>
            <a:endParaRPr lang="zh-CN">
              <a:latin typeface="Menlo"/>
            </a:endParaRPr>
          </a:p>
          <a:p>
            <a:endParaRPr lang="zh-CN" altLang="en-US" sz="1300">
              <a:solidFill>
                <a:srgbClr val="3B3B3B"/>
              </a:solidFill>
              <a:highlight>
                <a:srgbClr val="FFFFFF"/>
              </a:highlight>
              <a:latin typeface="Menlo"/>
              <a:ea typeface="等线"/>
            </a:endParaRPr>
          </a:p>
          <a:p>
            <a:r>
              <a:rPr lang="zh-CN" sz="1300">
                <a:solidFill>
                  <a:srgbClr val="3B3B3B"/>
                </a:solidFill>
                <a:highlight>
                  <a:srgbClr val="FFFFFF"/>
                </a:highlight>
                <a:latin typeface="Menlo"/>
                <a:ea typeface="等线"/>
              </a:rPr>
              <a:t>gemm_naive</a:t>
            </a:r>
            <a:r>
              <a:rPr lang="zh-CN" sz="1300">
                <a:solidFill>
                  <a:srgbClr val="000000"/>
                </a:solidFill>
                <a:highlight>
                  <a:srgbClr val="FFFFFF"/>
                </a:highlight>
                <a:latin typeface="Menlo"/>
                <a:ea typeface="等线"/>
              </a:rPr>
              <a:t>&lt;&lt;&lt;</a:t>
            </a:r>
            <a:r>
              <a:rPr lang="zh-CN" sz="1300">
                <a:solidFill>
                  <a:srgbClr val="3B3B3B"/>
                </a:solidFill>
                <a:highlight>
                  <a:srgbClr val="FFFFFF"/>
                </a:highlight>
                <a:latin typeface="Menlo"/>
                <a:ea typeface="等线"/>
              </a:rPr>
              <a:t>grid, block</a:t>
            </a:r>
            <a:r>
              <a:rPr lang="zh-CN" sz="1300">
                <a:solidFill>
                  <a:srgbClr val="000000"/>
                </a:solidFill>
                <a:highlight>
                  <a:srgbClr val="FFFFFF"/>
                </a:highlight>
                <a:latin typeface="Menlo"/>
                <a:ea typeface="等线"/>
              </a:rPr>
              <a:t>&gt;&gt;&gt;</a:t>
            </a:r>
            <a:r>
              <a:rPr lang="zh-CN" sz="1300">
                <a:solidFill>
                  <a:srgbClr val="3B3B3B"/>
                </a:solidFill>
                <a:highlight>
                  <a:srgbClr val="FFFFFF"/>
                </a:highlight>
                <a:latin typeface="Menlo"/>
                <a:ea typeface="等线"/>
              </a:rPr>
              <a:t>(A, B, C, M, N, K);</a:t>
            </a:r>
            <a:endParaRPr lang="zh-CN">
              <a:latin typeface="Menlo"/>
            </a:endParaRPr>
          </a:p>
          <a:p>
            <a:pPr>
              <a:lnSpc>
                <a:spcPts val="2250"/>
              </a:lnSpc>
            </a:pPr>
            <a:endParaRPr lang="zh-CN" altLang="zh-CN" sz="1500">
              <a:solidFill>
                <a:srgbClr val="3B3B3B"/>
              </a:solidFill>
              <a:latin typeface="Menlo" panose="020B0609030804020204" pitchFamily="49" charset="0"/>
              <a:ea typeface="等线"/>
            </a:endParaRPr>
          </a:p>
        </p:txBody>
      </p:sp>
    </p:spTree>
    <p:extLst>
      <p:ext uri="{BB962C8B-B14F-4D97-AF65-F5344CB8AC3E}">
        <p14:creationId xmlns:p14="http://schemas.microsoft.com/office/powerpoint/2010/main" val="3701713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8FC9A9E-2B78-4A4E-93B2-0FE84A5C1381}">
  <we:reference id="wa200010215" version="2.0.0.0" store="zh-CN" storeType="OMEX"/>
  <we:alternateReferences>
    <we:reference id="WA200010215" version="2.0.0.0" store="" storeType="OMEX"/>
  </we:alternateReferences>
  <we:properties>
    <we:property name="bps.codex_control.document_id" value="&quot;4a3ebf5c-6a07-4181-a955-a32efe2f074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389</Words>
  <Application>Microsoft Macintosh PowerPoint</Application>
  <PresentationFormat>宽屏</PresentationFormat>
  <Paragraphs>59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6" baseType="lpstr">
      <vt:lpstr>等线</vt:lpstr>
      <vt:lpstr>等线 Light</vt:lpstr>
      <vt:lpstr>微软雅黑</vt:lpstr>
      <vt:lpstr>微软雅黑</vt:lpstr>
      <vt:lpstr>Noto Sans SC</vt:lpstr>
      <vt:lpstr>Arial</vt:lpstr>
      <vt:lpstr>Cambria Math</vt:lpstr>
      <vt:lpstr>Menlo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LCPU LLM From Scratch</dc:title>
  <dc:creator>嘉骏 陈</dc:creator>
  <cp:lastModifiedBy>嘉骏 陈</cp:lastModifiedBy>
  <cp:revision>3</cp:revision>
  <dcterms:created xsi:type="dcterms:W3CDTF">2026-01-18T20:35:27Z</dcterms:created>
  <dcterms:modified xsi:type="dcterms:W3CDTF">2026-07-28T17:49:50Z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91EB52C51A2D8DF8833F6D6950F67AC5_42</vt:lpwstr>
  </property>
  <property fmtid="{D5CDD505-2E9C-101B-9397-08002B2CF9AE}" pid="3" name="KSOProductBuildVer">
    <vt:lpwstr>2052-12.9.0.24776</vt:lpwstr>
  </property>
</Properties>
</file>